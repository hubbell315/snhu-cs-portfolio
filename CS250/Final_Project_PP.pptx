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0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4AC63-3B30-4D86-94EC-078B17B09F4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F7224-CF05-4B6B-A9E9-4F2CBA7D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0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684F-614D-013E-34A0-9EFBA0E00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7080A-EA9E-6BCD-75E6-7F16A6802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29BA7-E1B7-885F-4254-D3F3FC71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5B2F-AE30-FBA6-6936-4F4FBF2C0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1C41A-77B9-AE90-0A72-4324DE4B3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1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65E1-C839-63E4-601C-3E00DEF4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181FB-44A9-84DA-18D1-E4561E5AD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BA3FB-D472-76CC-6175-7002E7BF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3071-1939-73B2-2DC1-B7A463DD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9B2AE-AEC3-5D41-FD27-00B8000E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6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F855-2CAF-AE91-CE8F-C3BA819EE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F93BB-5E8E-EF68-8162-7109D75C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82227-FB84-EB1B-2B4C-0B1959DD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1F643-0722-D886-64B8-B15FA97C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F0479-499F-934D-B36F-B81D4049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1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7D55-7586-6820-AA18-4D0876AA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0EA36-110D-21FB-C7A7-AA448FBA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299C2-AB92-5AE0-9E52-D6FCF3B9A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89715-B07D-F729-E425-1FFB2BFA7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B74EF-E5DB-D754-0CF9-33BBF1C5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1AE71-93B4-11B6-AC6E-53F76DA2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4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3456-34DE-EC30-A3B5-9C51BA03D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3B3FF-2AD6-A0F9-62A8-91E5CCF29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B0043-83BC-EC94-3883-6EB5B5A81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B3B00-092E-5FAB-48A4-87F70770B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0F9DF-5DC8-AB9B-4B36-FFA571300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18C7D-F6DC-5FDF-53FF-87B47B6F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E53099-445B-D748-8E8B-2CA41EED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594BB-851E-4E8F-ED57-6E134B31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2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072A-40BE-80EC-9C4E-5E713F34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F3B78-93B4-3367-E48E-E93D1893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CFFD6-4253-6FA6-D69C-86DA7238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34013-BBD5-CAF1-D886-AA856CC4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3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1D8A7-4915-2AC0-4FC1-6E82A527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74762-B58A-CC26-E35E-1914221D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92479-D31B-9000-3AA3-2BF730F3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3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924C-D671-F861-5B88-07D4ABA6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3603F-7B16-A5E7-8232-3205A6FB7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2A234-3AF6-7018-178A-D0A6B648D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9573C-9F8F-D57A-F9DE-CA44C2EB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71C13-BE57-CAAA-E3B7-7D9908F1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177B5-6180-B398-A950-D5ACF666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1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417F-95CF-4432-66C9-11163BEE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88882-A5D5-B537-BF06-9D1962F85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4B7BF-95FD-78A1-AD07-B22642E58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F0539-CDE9-E7BC-ECCC-3844ABEC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B62F7-37A3-BFA7-CC32-1B088B3B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EB940-09B3-FC22-9D3F-73CC9B9C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2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2EBB-4B9D-35F4-F99B-6BF49593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3B501-4473-818C-1858-0A1F8A7C4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DDC03-9723-E5D0-A2AB-067F9A3E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9D0EC-A547-5D2A-14EE-1CCA2330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D2C13-A91D-B1C0-0EA8-E3329706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FED84-B374-AB93-5A25-DDBE60443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6AB86-A79D-B30F-670E-7FD44BEE0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93538-DEF6-3F6A-94EA-539E59733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1EAD6-459A-6F1D-5CBB-623C30AA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32A98-932B-9CBD-0C75-971AE91F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4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2613A-CBF0-F904-E2E7-6CAF19B6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D8A23-42F6-3CED-B545-C0AFE6E4F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6FCAC-CFEC-AFBC-5D1C-DB10140B8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F0458-7095-4389-8A25-E093589B3EE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18BB4-4DEA-0918-935F-FA717C731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FA70-BFF1-479F-6A3E-C593DBB5C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05AE9-6240-4145-B34D-DA70969D7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9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F20D-E60D-8D87-E4CB-50E1B3661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Agile Advantage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F9372-3D52-87A3-F470-649D31D3B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Lessons from the SNHU Travel Pilot</a:t>
            </a:r>
          </a:p>
          <a:p>
            <a:r>
              <a:rPr lang="en-US" dirty="0" err="1"/>
              <a:t>ChadaTech’s</a:t>
            </a:r>
            <a:r>
              <a:rPr lang="en-US" dirty="0"/>
              <a:t> Future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FAC40-4A9B-2D64-E82A-15C17822875B}"/>
              </a:ext>
            </a:extLst>
          </p:cNvPr>
          <p:cNvSpPr txBox="1"/>
          <p:nvPr/>
        </p:nvSpPr>
        <p:spPr>
          <a:xfrm>
            <a:off x="922282" y="5604641"/>
            <a:ext cx="263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By: Tyler Hubbell</a:t>
            </a:r>
          </a:p>
        </p:txBody>
      </p:sp>
    </p:spTree>
    <p:extLst>
      <p:ext uri="{BB962C8B-B14F-4D97-AF65-F5344CB8AC3E}">
        <p14:creationId xmlns:p14="http://schemas.microsoft.com/office/powerpoint/2010/main" val="388990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A6D79-A207-9FAF-0E9F-6E55EDE74CA6}"/>
              </a:ext>
            </a:extLst>
          </p:cNvPr>
          <p:cNvSpPr txBox="1"/>
          <p:nvPr/>
        </p:nvSpPr>
        <p:spPr>
          <a:xfrm>
            <a:off x="4049766" y="417421"/>
            <a:ext cx="3913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76E56-D135-4057-76B4-D6639880A248}"/>
              </a:ext>
            </a:extLst>
          </p:cNvPr>
          <p:cNvSpPr txBox="1"/>
          <p:nvPr/>
        </p:nvSpPr>
        <p:spPr>
          <a:xfrm>
            <a:off x="465082" y="1947041"/>
            <a:ext cx="110831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Contrast Waterfall and Agile methodologies to clarify key differences in structure, adaptability and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Summarize key findings from SNHU travel pilot. Focused on adaptability, delivery speed and communication effectiveness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critical decision factors – leadership should consider when choosing between Waterfall and Agile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Recommend a path forward for </a:t>
            </a:r>
            <a:r>
              <a:rPr lang="en-US" sz="2000" dirty="0" err="1"/>
              <a:t>ChadaTech’s</a:t>
            </a:r>
            <a:r>
              <a:rPr lang="en-US" sz="2000" dirty="0"/>
              <a:t> organization wide adoption of the scrum Agile framework</a:t>
            </a:r>
          </a:p>
        </p:txBody>
      </p:sp>
    </p:spTree>
    <p:extLst>
      <p:ext uri="{BB962C8B-B14F-4D97-AF65-F5344CB8AC3E}">
        <p14:creationId xmlns:p14="http://schemas.microsoft.com/office/powerpoint/2010/main" val="365537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4E3C73-91AC-BB8F-DFC0-8FFBF4F8E91C}"/>
              </a:ext>
            </a:extLst>
          </p:cNvPr>
          <p:cNvSpPr txBox="1"/>
          <p:nvPr/>
        </p:nvSpPr>
        <p:spPr>
          <a:xfrm>
            <a:off x="394021" y="671395"/>
            <a:ext cx="114039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Components of a Scrum-Agile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24F79-CE4A-AD78-CF8A-9390C0D8AC56}"/>
              </a:ext>
            </a:extLst>
          </p:cNvPr>
          <p:cNvSpPr txBox="1"/>
          <p:nvPr/>
        </p:nvSpPr>
        <p:spPr>
          <a:xfrm>
            <a:off x="482813" y="2353582"/>
            <a:ext cx="1122637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Product Owner</a:t>
            </a:r>
            <a:r>
              <a:rPr lang="en-US" sz="2000" dirty="0"/>
              <a:t>: Maximizes product value by managing and prioritizing the Product Backlog based </a:t>
            </a:r>
          </a:p>
          <a:p>
            <a:r>
              <a:rPr lang="en-US" sz="2000" dirty="0"/>
              <a:t>on customer needs and business goals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Scrum Master</a:t>
            </a:r>
            <a:r>
              <a:rPr lang="en-US" sz="2000" dirty="0"/>
              <a:t>: Acts as a servant-leader, coaching the team and facilitating scrum events and removing impediments that block progress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Development Team</a:t>
            </a:r>
            <a:r>
              <a:rPr lang="en-US" sz="2000" dirty="0"/>
              <a:t>: A self-organizing, cross-functional group responsible for delivering a potentially shippable Increment at the end of each Sprint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Agile Principle</a:t>
            </a:r>
            <a:r>
              <a:rPr lang="en-US" sz="2000" dirty="0"/>
              <a:t>: Focuses on working software and collaboration over heavy documentation</a:t>
            </a:r>
          </a:p>
          <a:p>
            <a:r>
              <a:rPr lang="en-US" sz="2000" dirty="0"/>
              <a:t>adapting to change rather than following a rigid plan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62882-C1FF-A3E2-138D-F501EBF0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Beck et al. (2001), Cobb (2015)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5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0B00EE-D1BE-AB5F-6D31-FBA3BF6F0F8E}"/>
              </a:ext>
            </a:extLst>
          </p:cNvPr>
          <p:cNvSpPr txBox="1"/>
          <p:nvPr/>
        </p:nvSpPr>
        <p:spPr>
          <a:xfrm>
            <a:off x="198648" y="401137"/>
            <a:ext cx="117947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Software Development Life Cycle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B55ABC-3D69-2D61-DCD1-BDA7D2349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96" y="1747881"/>
            <a:ext cx="111224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Agile cycles through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SDLC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phases iteratively, delivering working software each Sprint rather than after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all phases are complete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/ Requirements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Ongoing through Backlog Refinement and Sprint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“Just-in-time” and evolves as the product takes shape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&amp; Testing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Done within each Sprint for continuous quality assurance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/ Deployment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Increment is potentially shippable and demonstrated to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Idea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Agile embraces change and feedback through short, repeatable iterations rather than linear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phases of Waterfall.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F41FF-969F-924F-3209-6A4BABA6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Sources: Beck et al. (2001), Cobb (2015), Schwaber &amp; Sutherland (2020)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39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D3258-F98D-A1D5-BBF2-8FFE9A43C906}"/>
              </a:ext>
            </a:extLst>
          </p:cNvPr>
          <p:cNvSpPr txBox="1"/>
          <p:nvPr/>
        </p:nvSpPr>
        <p:spPr>
          <a:xfrm>
            <a:off x="3071261" y="323193"/>
            <a:ext cx="64518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Agile vs. Waterfall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D4CA84-54BB-7847-4F14-D5A220EF5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57" y="1805580"/>
            <a:ext cx="116191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Change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Mid-project, SNHU Travel requested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optimization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their booking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Response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Product Owner quickly reprioritized the backlog, adding a new “Mobile 	Responsiveness” epic to the next Sprint. </a:t>
            </a:r>
            <a:r>
              <a:rPr lang="en-US" altLang="en-US" dirty="0">
                <a:latin typeface="Arial" panose="020B0604020202020204" pitchFamily="34" charset="0"/>
              </a:rPr>
              <a:t>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inimal disruption, immediate value added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Waterfall Impact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Under a Waterfall model, this change would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 formal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Request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Rewriting of requirements and design documentation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Potential rework and project delays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Increased costs and lost delivery momentum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Agile value of “responding to change over following a plan”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enabled flexibility and faster customer satisfaction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41DB0-BBA0-7A89-31F1-9C78DEF2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Source: Beck et al. (2001)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9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049C4-61E4-FDF4-7152-67A68F1EAFC7}"/>
              </a:ext>
            </a:extLst>
          </p:cNvPr>
          <p:cNvSpPr txBox="1"/>
          <p:nvPr/>
        </p:nvSpPr>
        <p:spPr>
          <a:xfrm>
            <a:off x="2804938" y="378371"/>
            <a:ext cx="690644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+mj-lt"/>
              </a:rPr>
              <a:t>The Right Approach?</a:t>
            </a:r>
          </a:p>
          <a:p>
            <a:pPr algn="ctr"/>
            <a:r>
              <a:rPr lang="en-US" sz="4400" dirty="0"/>
              <a:t>Agile?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AA560A-8B3A-BB9A-4813-C94FDD00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Source: Beck et al. (2001), Cobb (2015)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5C1304B-962F-F850-9692-117B40A2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1" y="2524912"/>
            <a:ext cx="839095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Designed for evolving requirements and client-driven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Emphasizes short, iterative Sprints that deliver working software continuously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cross-functional collaboration and quick adaptation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transparency and customer involvement throughout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Reflects Agile values of adaptability and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121748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5D571E-35CD-759C-E1C2-BB576832C0AE}"/>
              </a:ext>
            </a:extLst>
          </p:cNvPr>
          <p:cNvSpPr txBox="1"/>
          <p:nvPr/>
        </p:nvSpPr>
        <p:spPr>
          <a:xfrm>
            <a:off x="2804938" y="377584"/>
            <a:ext cx="690644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+mj-lt"/>
              </a:rPr>
              <a:t>The Right Approach?</a:t>
            </a:r>
          </a:p>
          <a:p>
            <a:pPr algn="ctr"/>
            <a:r>
              <a:rPr lang="en-US" sz="4400" dirty="0"/>
              <a:t>Waterfall?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EB3EF-F865-A933-4A5F-2D41A425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PMI (2021)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00E68B-5916-736D-2B05-6CE5095F7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12" y="2678282"/>
            <a:ext cx="118924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best when requirements are stable and clearly defined from the 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Ideal for short term, low risk, or compliance driven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phase: requirements, design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build, test, deploy - happens sequentially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Changes are costly once development begins, requires formal approval and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predictability and strict oversight for regulated industries</a:t>
            </a:r>
          </a:p>
        </p:txBody>
      </p:sp>
    </p:spTree>
    <p:extLst>
      <p:ext uri="{BB962C8B-B14F-4D97-AF65-F5344CB8AC3E}">
        <p14:creationId xmlns:p14="http://schemas.microsoft.com/office/powerpoint/2010/main" val="2771661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6FCC6-CEDB-134F-AB3F-B1AAF7480BED}"/>
              </a:ext>
            </a:extLst>
          </p:cNvPr>
          <p:cNvSpPr txBox="1"/>
          <p:nvPr/>
        </p:nvSpPr>
        <p:spPr>
          <a:xfrm>
            <a:off x="1635708" y="616936"/>
            <a:ext cx="9215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Recommendation for Choice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DAABC83-FE24-A31D-6E67-58F2F4531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58" y="2191521"/>
            <a:ext cx="93658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Pilot success proved Agile adaptability and faster delivery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Recommend company-wide adoption of the Scrum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Agile for dynamic, client-driven projects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Use Waterfall for regulated, fixed-scope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Transition supports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ChadaTech’s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goals of innovation, collaboration, and customer value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DD644-3721-E8D6-43E5-B8F17F61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Sources: Cobb (2015), PMI (2021)</a:t>
            </a:r>
          </a:p>
        </p:txBody>
      </p:sp>
    </p:spTree>
    <p:extLst>
      <p:ext uri="{BB962C8B-B14F-4D97-AF65-F5344CB8AC3E}">
        <p14:creationId xmlns:p14="http://schemas.microsoft.com/office/powerpoint/2010/main" val="113603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70C16-B07F-5B72-1A22-07A68F41884C}"/>
              </a:ext>
            </a:extLst>
          </p:cNvPr>
          <p:cNvSpPr txBox="1"/>
          <p:nvPr/>
        </p:nvSpPr>
        <p:spPr>
          <a:xfrm>
            <a:off x="4123056" y="433551"/>
            <a:ext cx="41758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C0F1C-8905-9DA4-2732-1C9964A2B83F}"/>
              </a:ext>
            </a:extLst>
          </p:cNvPr>
          <p:cNvSpPr txBox="1"/>
          <p:nvPr/>
        </p:nvSpPr>
        <p:spPr>
          <a:xfrm>
            <a:off x="565587" y="2196862"/>
            <a:ext cx="106752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en-US" dirty="0"/>
              <a:t>Beck, K., Beedle, M., van </a:t>
            </a:r>
            <a:r>
              <a:rPr lang="en-US" dirty="0" err="1"/>
              <a:t>Bennekum</a:t>
            </a:r>
            <a:r>
              <a:rPr lang="en-US" dirty="0"/>
              <a:t>, A., Cockburn, A., Cunningham, W., Fowler, M., … Thomas, D. (2001). 	</a:t>
            </a:r>
            <a:r>
              <a:rPr lang="en-US" i="1" dirty="0"/>
              <a:t>Manifesto for Agile software development</a:t>
            </a:r>
            <a:r>
              <a:rPr lang="en-US" dirty="0"/>
              <a:t>. Agile Alliance. https://agilemanifesto.org/</a:t>
            </a:r>
          </a:p>
          <a:p>
            <a:pPr indent="-457200"/>
            <a:endParaRPr lang="en-US" dirty="0"/>
          </a:p>
          <a:p>
            <a:r>
              <a:rPr lang="en-US" dirty="0"/>
              <a:t>Cobb, C. G. (2015). </a:t>
            </a:r>
            <a:r>
              <a:rPr lang="en-US" i="1" dirty="0"/>
              <a:t>The project manager’s guide to mastering agile: Principles and practices for an 	adaptive approach</a:t>
            </a:r>
            <a:r>
              <a:rPr lang="en-US" dirty="0"/>
              <a:t>. John Wiley &amp; Sons.</a:t>
            </a:r>
          </a:p>
          <a:p>
            <a:endParaRPr lang="en-US" dirty="0"/>
          </a:p>
          <a:p>
            <a:r>
              <a:rPr lang="en-US" dirty="0"/>
              <a:t>Project Management Institute. (2021). </a:t>
            </a:r>
            <a:r>
              <a:rPr lang="en-US" i="1" dirty="0"/>
              <a:t>Agile practice guide</a:t>
            </a:r>
            <a:r>
              <a:rPr lang="en-US" dirty="0"/>
              <a:t>. Project Management Institute.</a:t>
            </a:r>
          </a:p>
          <a:p>
            <a:endParaRPr lang="en-US" dirty="0"/>
          </a:p>
          <a:p>
            <a:r>
              <a:rPr lang="en-US" dirty="0"/>
              <a:t>Schwaber, K., &amp; Sutherland, J. (2020). </a:t>
            </a:r>
            <a:r>
              <a:rPr lang="en-US" i="1" dirty="0"/>
              <a:t>The Scrum guide</a:t>
            </a:r>
            <a:r>
              <a:rPr lang="en-US" dirty="0"/>
              <a:t>. Scrum.org. https://scrumguides.org</a:t>
            </a:r>
          </a:p>
        </p:txBody>
      </p:sp>
    </p:spTree>
    <p:extLst>
      <p:ext uri="{BB962C8B-B14F-4D97-AF65-F5344CB8AC3E}">
        <p14:creationId xmlns:p14="http://schemas.microsoft.com/office/powerpoint/2010/main" val="83769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740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 Agile Advantage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Hubbell, Tyler</dc:creator>
  <cp:lastModifiedBy>Hubbell, Tyler</cp:lastModifiedBy>
  <cp:revision>4</cp:revision>
  <dcterms:created xsi:type="dcterms:W3CDTF">2025-10-13T16:18:40Z</dcterms:created>
  <dcterms:modified xsi:type="dcterms:W3CDTF">2025-10-13T17:25:03Z</dcterms:modified>
</cp:coreProperties>
</file>