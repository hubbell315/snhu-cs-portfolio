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52" r:id="rId4"/>
  </p:sldMasterIdLst>
  <p:notesMasterIdLst>
    <p:notesMasterId r:id="rId24"/>
  </p:notesMasterIdLst>
  <p:sldIdLst>
    <p:sldId id="256" r:id="rId5"/>
    <p:sldId id="257" r:id="rId6"/>
    <p:sldId id="258" r:id="rId7"/>
    <p:sldId id="259" r:id="rId8"/>
    <p:sldId id="260" r:id="rId9"/>
    <p:sldId id="270" r:id="rId10"/>
    <p:sldId id="261" r:id="rId11"/>
    <p:sldId id="262" r:id="rId12"/>
    <p:sldId id="263" r:id="rId13"/>
    <p:sldId id="271" r:id="rId14"/>
    <p:sldId id="275" r:id="rId15"/>
    <p:sldId id="276" r:id="rId16"/>
    <p:sldId id="277" r:id="rId17"/>
    <p:sldId id="264" r:id="rId18"/>
    <p:sldId id="265" r:id="rId19"/>
    <p:sldId id="266" r:id="rId20"/>
    <p:sldId id="267" r:id="rId21"/>
    <p:sldId id="268" r:id="rId22"/>
    <p:sldId id="269" r:id="rId23"/>
  </p:sldIdLst>
  <p:sldSz cx="12192000" cy="6858000"/>
  <p:notesSz cx="6858000" cy="9144000"/>
  <p:embeddedFontLst>
    <p:embeddedFont>
      <p:font typeface="Century Gothic" panose="020B0502020202020204" pitchFamily="34" charset="0"/>
      <p:regular r:id="rId25"/>
      <p:bold r:id="rId26"/>
      <p:italic r:id="rId27"/>
      <p:boldItalic r:id="rId28"/>
    </p:embeddedFont>
    <p:embeddedFont>
      <p:font typeface="Neue Haas Grotesk Text Pro" panose="020B0504020202020204" pitchFamily="34" charset="0"/>
      <p:regular r:id="rId29"/>
      <p:bold r:id="rId30"/>
      <p:italic r:id="rId31"/>
      <p:boldItalic r:id="rId32"/>
    </p:embeddedFont>
  </p:embeddedFontLst>
  <p:custDataLst>
    <p:tags r:id="rId3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4"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80" y="162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2.fntdata"/><Relationship Id="rId21" Type="http://schemas.openxmlformats.org/officeDocument/2006/relationships/slide" Target="slides/slide17.xml"/><Relationship Id="rId34" Type="http://customschemas.google.com/relationships/presentationmetadata" Target="meta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1.fntdata"/><Relationship Id="rId33" Type="http://schemas.openxmlformats.org/officeDocument/2006/relationships/tags" Target="tags/tag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5.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4.fntdata"/><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7.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ED96FCA7-E843-BE7E-035C-1C2DD898FC9D}"/>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D024DF8A-D455-45DC-5F54-7AF8AC990E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D11435B0-98F5-109E-119F-6BF2CA86314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4770281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7CBD66ED-6F97-5C06-66F2-C44DAF88BBB0}"/>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06F84392-47FC-0906-C8FB-2D90CEB5AA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44BB45A6-AE30-17FB-B356-0041BB0ABA1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4137375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D80A9255-8FFD-CA64-25B5-11F48CC98AD8}"/>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C7DA1D99-83FB-C931-E703-2AC9D12D84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3168E979-D28B-B426-3148-24DB8FCB4C8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282671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B1E74FAC-A50A-78EA-173D-85E6C1FEB363}"/>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DC1908F7-1FFC-F051-916E-B367FB2342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D27CC533-0409-674C-88A1-0CBFE4BC848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132135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10" name="Picture 9" descr="A black circle in a purple and orange color&#10;&#10;AI-generated content may be incorrect.">
            <a:extLst>
              <a:ext uri="{FF2B5EF4-FFF2-40B4-BE49-F238E27FC236}">
                <a16:creationId xmlns:a16="http://schemas.microsoft.com/office/drawing/2014/main" id="{C8E832A1-AE20-595C-6C6A-C6CAD6D72233}"/>
              </a:ext>
            </a:extLst>
          </p:cNvPr>
          <p:cNvPicPr>
            <a:picLocks noChangeAspect="1"/>
          </p:cNvPicPr>
          <p:nvPr/>
        </p:nvPicPr>
        <p:blipFill>
          <a:blip r:embed="rId2">
            <a:extLst>
              <a:ext uri="{28A0092B-C50C-407E-A947-70E740481C1C}">
                <a14:useLocalDpi xmlns:a14="http://schemas.microsoft.com/office/drawing/2010/main" val="0"/>
              </a:ext>
            </a:extLst>
          </a:blip>
          <a:srcRect l="14059" t="1529" r="16895" b="27442"/>
          <a:stretch>
            <a:fillRect/>
          </a:stretch>
        </p:blipFill>
        <p:spPr>
          <a:xfrm flipH="1">
            <a:off x="-27432" y="0"/>
            <a:ext cx="12219432" cy="686571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295259" y="1820486"/>
            <a:ext cx="4800600" cy="2762187"/>
          </a:xfrm>
        </p:spPr>
        <p:txBody>
          <a:bodyPr vert="horz" lIns="91440" tIns="45720" rIns="91440" bIns="45720" rtlCol="0" anchor="b">
            <a:normAutofit/>
          </a:bodyPr>
          <a:lstStyle>
            <a:lvl1pPr>
              <a:defRPr lang="en-US" sz="48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295260" y="4714821"/>
            <a:ext cx="3830874" cy="1496616"/>
          </a:xfrm>
        </p:spPr>
        <p:txBody>
          <a:bodyPr vert="horz" lIns="91440" tIns="45720" rIns="91440" bIns="45720" rtlCol="0" anchor="t">
            <a:normAutofit/>
          </a:bodyPr>
          <a:lstStyle>
            <a:lvl1pPr marL="0" indent="0">
              <a:buNone/>
              <a:defRPr lang="en-US" sz="1400" dirty="0">
                <a:solidFill>
                  <a:schemeClr val="tx1"/>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295259" y="219456"/>
            <a:ext cx="2703777" cy="338328"/>
          </a:xfrm>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235440" y="219456"/>
            <a:ext cx="1495365" cy="338328"/>
          </a:xfrm>
        </p:spPr>
        <p:txBody>
          <a:bodyPr/>
          <a:lstStyle>
            <a:lvl1pPr>
              <a:defRPr>
                <a:solidFill>
                  <a:schemeClr val="tx1"/>
                </a:solidFill>
              </a:defRPr>
            </a:lvl1pPr>
          </a:lstStyle>
          <a:p>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399228827"/>
      </p:ext>
    </p:extLst>
  </p:cSld>
  <p:clrMapOvr>
    <a:masterClrMapping/>
  </p:clrMapOvr>
  <p:hf sldNum="0" hdr="0" ftr="0" dt="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217452" y="214858"/>
            <a:ext cx="1485900" cy="338328"/>
          </a:xfrm>
        </p:spPr>
        <p:txBody>
          <a:bodyPr/>
          <a:lstStyle>
            <a:lvl1pPr>
              <a:defRPr>
                <a:solidFill>
                  <a:schemeClr val="tx1"/>
                </a:solidFill>
              </a:defRPr>
            </a:lvl1pPr>
          </a:lstStyle>
          <a:p>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pPr marL="0" lvl="0" indent="0" algn="r" rtl="0">
              <a:spcBef>
                <a:spcPts val="0"/>
              </a:spcBef>
              <a:spcAft>
                <a:spcPts val="0"/>
              </a:spcAft>
              <a:buNone/>
            </a:pPr>
            <a:fld id="{00000000-1234-1234-1234-123412341234}" type="slidenum">
              <a:rPr lang="en-US" smtClean="0"/>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9729402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2">
    <p:spTree>
      <p:nvGrpSpPr>
        <p:cNvPr id="1" name=""/>
        <p:cNvGrpSpPr/>
        <p:nvPr/>
      </p:nvGrpSpPr>
      <p:grpSpPr>
        <a:xfrm>
          <a:off x="0" y="0"/>
          <a:ext cx="0" cy="0"/>
          <a:chOff x="0" y="0"/>
          <a:chExt cx="0" cy="0"/>
        </a:xfrm>
      </p:grpSpPr>
      <p:pic>
        <p:nvPicPr>
          <p:cNvPr id="7" name="Picture 6" descr="A black circle in a purple and orange color&#10;&#10;AI-generated content may be incorrect.">
            <a:extLst>
              <a:ext uri="{FF2B5EF4-FFF2-40B4-BE49-F238E27FC236}">
                <a16:creationId xmlns:a16="http://schemas.microsoft.com/office/drawing/2014/main" id="{6AC85073-6D22-76C5-C752-C565E9FBCC84}"/>
              </a:ext>
            </a:extLst>
          </p:cNvPr>
          <p:cNvPicPr>
            <a:picLocks noChangeAspect="1"/>
          </p:cNvPicPr>
          <p:nvPr/>
        </p:nvPicPr>
        <p:blipFill>
          <a:blip r:embed="rId2">
            <a:extLst>
              <a:ext uri="{28A0092B-C50C-407E-A947-70E740481C1C}">
                <a14:useLocalDpi xmlns:a14="http://schemas.microsoft.com/office/drawing/2010/main" val="0"/>
              </a:ext>
            </a:extLst>
          </a:blip>
          <a:srcRect l="1146" t="10520" r="14652" b="11508"/>
          <a:stretch>
            <a:fillRect/>
          </a:stretch>
        </p:blipFill>
        <p:spPr>
          <a:xfrm flipH="1">
            <a:off x="-2" y="11899"/>
            <a:ext cx="12192001" cy="6865715"/>
          </a:xfrm>
          <a:prstGeom prst="rect">
            <a:avLst/>
          </a:prstGeom>
        </p:spPr>
      </p:pic>
      <p:sp>
        <p:nvSpPr>
          <p:cNvPr id="9" name="Title 8">
            <a:extLst>
              <a:ext uri="{FF2B5EF4-FFF2-40B4-BE49-F238E27FC236}">
                <a16:creationId xmlns:a16="http://schemas.microsoft.com/office/drawing/2014/main" id="{BF6CFC71-0CC0-F6AB-06FD-5F2DE2587092}"/>
              </a:ext>
            </a:extLst>
          </p:cNvPr>
          <p:cNvSpPr>
            <a:spLocks noGrp="1"/>
          </p:cNvSpPr>
          <p:nvPr>
            <p:ph type="title"/>
          </p:nvPr>
        </p:nvSpPr>
        <p:spPr>
          <a:xfrm>
            <a:off x="420792" y="459253"/>
            <a:ext cx="5658468" cy="2691359"/>
          </a:xfrm>
        </p:spPr>
        <p:txBody>
          <a:bodyPr/>
          <a:lstStyle>
            <a:lvl1pPr>
              <a:defRPr sz="4600"/>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41932924-E87B-08A2-5EE3-BBA69699E24F}"/>
              </a:ext>
            </a:extLst>
          </p:cNvPr>
          <p:cNvSpPr>
            <a:spLocks noGrp="1"/>
          </p:cNvSpPr>
          <p:nvPr>
            <p:ph type="subTitle" idx="1"/>
          </p:nvPr>
        </p:nvSpPr>
        <p:spPr>
          <a:xfrm>
            <a:off x="7362264" y="516600"/>
            <a:ext cx="2593814" cy="1627886"/>
          </a:xfrm>
        </p:spPr>
        <p:txBody>
          <a:bodyPr vert="horz" lIns="91440" tIns="45720" rIns="91440" bIns="45720" rtlCol="0" anchor="t">
            <a:normAutofit/>
          </a:bodyPr>
          <a:lstStyle>
            <a:lvl1pPr marL="0" indent="0">
              <a:buNone/>
              <a:defRPr lang="en-US" sz="1200" dirty="0">
                <a:solidFill>
                  <a:schemeClr val="tx1"/>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362265" y="219456"/>
            <a:ext cx="2504049" cy="338328"/>
          </a:xfrm>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363200" y="219456"/>
            <a:ext cx="1146383" cy="338328"/>
          </a:xfrm>
        </p:spPr>
        <p:txBody>
          <a:bodyPr/>
          <a:lstStyle>
            <a:lvl1pPr>
              <a:defRPr>
                <a:solidFill>
                  <a:schemeClr val="tx1"/>
                </a:solidFill>
              </a:defRPr>
            </a:lvl1pPr>
          </a:lstStyle>
          <a:p>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291657" y="219456"/>
            <a:ext cx="555948" cy="338328"/>
          </a:xfrm>
        </p:spPr>
        <p:txBody>
          <a:bodyPr/>
          <a:lstStyle>
            <a:lvl1pPr>
              <a:defRPr>
                <a:solidFill>
                  <a:schemeClr val="tx1"/>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15413916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a:lstStyle>
            <a:lvl1pPr>
              <a:defRPr>
                <a:solidFill>
                  <a:schemeClr val="tx1"/>
                </a:solidFill>
              </a:defRPr>
            </a:lvl1pPr>
          </a:lstStyle>
          <a:p>
            <a:r>
              <a:rPr lang="en-US" dirty="0"/>
              <a:t>   </a:t>
            </a:r>
          </a:p>
        </p:txBody>
      </p:sp>
      <p:sp>
        <p:nvSpPr>
          <p:cNvPr id="15" name="Title 14">
            <a:extLst>
              <a:ext uri="{FF2B5EF4-FFF2-40B4-BE49-F238E27FC236}">
                <a16:creationId xmlns:a16="http://schemas.microsoft.com/office/drawing/2014/main" id="{7EB34FF5-770C-AA64-B806-5D6DED71138A}"/>
              </a:ext>
            </a:extLst>
          </p:cNvPr>
          <p:cNvSpPr>
            <a:spLocks noGrp="1"/>
          </p:cNvSpPr>
          <p:nvPr>
            <p:ph type="title"/>
          </p:nvPr>
        </p:nvSpPr>
        <p:spPr>
          <a:xfrm>
            <a:off x="0" y="4463843"/>
            <a:ext cx="12188952" cy="2394157"/>
          </a:xfrm>
          <a:gradFill>
            <a:gsLst>
              <a:gs pos="31000">
                <a:srgbClr val="000000">
                  <a:alpha val="30000"/>
                </a:srgbClr>
              </a:gs>
              <a:gs pos="87000">
                <a:srgbClr val="000000">
                  <a:alpha val="60000"/>
                </a:srgbClr>
              </a:gs>
              <a:gs pos="0">
                <a:srgbClr val="000000">
                  <a:alpha val="0"/>
                </a:srgbClr>
              </a:gs>
            </a:gsLst>
            <a:lin ang="5400000" scaled="0"/>
          </a:gradFill>
        </p:spPr>
        <p:txBody>
          <a:bodyPr lIns="502920" tIns="0" rIns="5029200" bIns="365760" anchor="b"/>
          <a:lstStyle>
            <a:lvl1pPr>
              <a:defRPr sz="4000">
                <a:solidFill>
                  <a:schemeClr val="tx1"/>
                </a:solidFill>
              </a:defRPr>
            </a:lvl1pPr>
          </a:lstStyle>
          <a:p>
            <a:r>
              <a:rPr lang="en-US"/>
              <a:t>Click to edit Master title style</a:t>
            </a:r>
            <a:endParaRPr lang="en-US" dirty="0"/>
          </a:p>
        </p:txBody>
      </p:sp>
      <p:sp>
        <p:nvSpPr>
          <p:cNvPr id="12" name="Subtitle 2">
            <a:extLst>
              <a:ext uri="{FF2B5EF4-FFF2-40B4-BE49-F238E27FC236}">
                <a16:creationId xmlns:a16="http://schemas.microsoft.com/office/drawing/2014/main" id="{49132BB0-A42B-7355-8046-F22B2344C64F}"/>
              </a:ext>
            </a:extLst>
          </p:cNvPr>
          <p:cNvSpPr>
            <a:spLocks noGrp="1"/>
          </p:cNvSpPr>
          <p:nvPr>
            <p:ph type="subTitle" idx="1"/>
          </p:nvPr>
        </p:nvSpPr>
        <p:spPr>
          <a:xfrm>
            <a:off x="8801099" y="4463843"/>
            <a:ext cx="3387853" cy="2394157"/>
          </a:xfrm>
        </p:spPr>
        <p:txBody>
          <a:bodyPr vert="horz" lIns="137160" tIns="365760" rIns="0" bIns="457200" rtlCol="0" anchor="b">
            <a:normAutofit/>
          </a:bodyPr>
          <a:lstStyle>
            <a:lvl1pPr marL="0" indent="0">
              <a:buNone/>
              <a:defRPr lang="en-US" sz="1400" dirty="0">
                <a:solidFill>
                  <a:schemeClr val="tx1"/>
                </a:solidFill>
              </a:defRPr>
            </a:lvl1pPr>
          </a:lstStyle>
          <a:p>
            <a:pPr lvl="0"/>
            <a:r>
              <a:rPr lang="en-US"/>
              <a:t>Click to edit Master subtitle style</a:t>
            </a:r>
            <a:endParaRPr lang="en-US" dirty="0"/>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437656" y="219456"/>
            <a:ext cx="2740616" cy="365760"/>
          </a:xfrm>
        </p:spPr>
        <p:txBody>
          <a:bodyPr/>
          <a:lstStyle>
            <a:lvl1pPr>
              <a:defRPr>
                <a:solidFill>
                  <a:schemeClr val="tx1"/>
                </a:solidFill>
              </a:defRPr>
            </a:lvl1pPr>
          </a:lstStyle>
          <a:p>
            <a:endParaRPr lang="en-US"/>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8866095" y="219456"/>
            <a:ext cx="1957990" cy="365760"/>
          </a:xfrm>
        </p:spPr>
        <p:txBody>
          <a:bodyPr/>
          <a:lstStyle>
            <a:lvl1pPr>
              <a:defRPr>
                <a:solidFill>
                  <a:schemeClr val="tx1"/>
                </a:solidFill>
              </a:defRPr>
            </a:lvl1pPr>
          </a:lstStyle>
          <a:p>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362195" y="219456"/>
            <a:ext cx="448805" cy="365760"/>
          </a:xfrm>
        </p:spPr>
        <p:txBody>
          <a:bodyPr/>
          <a:lstStyle>
            <a:lvl1pPr>
              <a:defRPr>
                <a:solidFill>
                  <a:schemeClr val="tx1"/>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324560869"/>
      </p:ext>
    </p:extLst>
  </p:cSld>
  <p:clrMapOvr>
    <a:masterClrMapping/>
  </p:clrMapOvr>
  <p:hf sldNum="0" hdr="0" ftr="0" dt="0"/>
  <p:extLst>
    <p:ext uri="{DCECCB84-F9BA-43D5-87BE-67443E8EF086}">
      <p15:sldGuideLst xmlns:p15="http://schemas.microsoft.com/office/powerpoint/2012/main">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10" name="Picture 9" descr="A close up of a colorful background&#10;&#10;AI-generated content may be incorrect.">
            <a:extLst>
              <a:ext uri="{FF2B5EF4-FFF2-40B4-BE49-F238E27FC236}">
                <a16:creationId xmlns:a16="http://schemas.microsoft.com/office/drawing/2014/main" id="{6F838A51-B977-1664-089F-3B2250DFEF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81172" cy="6858000"/>
          </a:xfrm>
          <a:prstGeom prst="rect">
            <a:avLst/>
          </a:prstGeom>
        </p:spPr>
      </p:pic>
      <p:sp>
        <p:nvSpPr>
          <p:cNvPr id="2" name="Title 1">
            <a:extLst>
              <a:ext uri="{FF2B5EF4-FFF2-40B4-BE49-F238E27FC236}">
                <a16:creationId xmlns:a16="http://schemas.microsoft.com/office/drawing/2014/main" id="{8892EA34-13CC-54C1-DE3D-4F1D5D55C9A7}"/>
              </a:ext>
            </a:extLst>
          </p:cNvPr>
          <p:cNvSpPr>
            <a:spLocks noGrp="1"/>
          </p:cNvSpPr>
          <p:nvPr>
            <p:ph type="title" hasCustomPrompt="1"/>
          </p:nvPr>
        </p:nvSpPr>
        <p:spPr>
          <a:xfrm>
            <a:off x="409980" y="4311805"/>
            <a:ext cx="8585337" cy="2368300"/>
          </a:xfrm>
        </p:spPr>
        <p:txBody>
          <a:bodyPr anchor="b">
            <a:normAutofit/>
          </a:bodyPr>
          <a:lstStyle>
            <a:lvl1pPr>
              <a:defRPr sz="6900">
                <a:solidFill>
                  <a:schemeClr val="tx1"/>
                </a:solidFill>
              </a:defRPr>
            </a:lvl1pPr>
          </a:lstStyle>
          <a:p>
            <a:r>
              <a:rPr lang="en-US" dirty="0"/>
              <a:t>Section Header</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419100" y="219456"/>
            <a:ext cx="2656178" cy="338328"/>
          </a:xfrm>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8801100" y="219456"/>
            <a:ext cx="1913256" cy="338328"/>
          </a:xfrm>
        </p:spPr>
        <p:txBody>
          <a:bodyPr/>
          <a:lstStyle>
            <a:lvl1pPr>
              <a:defRPr>
                <a:solidFill>
                  <a:schemeClr val="tx1"/>
                </a:solidFill>
              </a:defRPr>
            </a:lvl1pPr>
          </a:lstStyle>
          <a:p>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291658" y="219456"/>
            <a:ext cx="555948" cy="338328"/>
          </a:xfrm>
        </p:spPr>
        <p:txBody>
          <a:bodyPr/>
          <a:lstStyle>
            <a:lvl1pPr>
              <a:defRPr>
                <a:solidFill>
                  <a:schemeClr val="tx1"/>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5514443"/>
      </p:ext>
    </p:extLst>
  </p:cSld>
  <p:clrMapOvr>
    <a:masterClrMapping/>
  </p:clrMapOvr>
  <p:hf sldNum="0" hdr="0" ftr="0" dt="0"/>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6" name="Picture 5" descr="A black background with a purple and orange light&#10;&#10;AI-generated content may be incorrect.">
            <a:extLst>
              <a:ext uri="{FF2B5EF4-FFF2-40B4-BE49-F238E27FC236}">
                <a16:creationId xmlns:a16="http://schemas.microsoft.com/office/drawing/2014/main" id="{D09BF41B-6D10-9A6E-03E4-5E7320A61D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2"/>
            <a:ext cx="12192000" cy="2869093"/>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68368" y="2138776"/>
            <a:ext cx="6433266" cy="1962149"/>
          </a:xfrm>
        </p:spPr>
        <p:txBody>
          <a:bodyPr anchor="t">
            <a:normAutofit/>
          </a:bodyPr>
          <a:lstStyle>
            <a:lvl1pPr>
              <a:defRPr sz="8800" baseline="0">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353300" y="214858"/>
            <a:ext cx="1485900" cy="338328"/>
          </a:xfrm>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pPr marL="0" lvl="0" indent="0" algn="r" rtl="0">
              <a:spcBef>
                <a:spcPts val="0"/>
              </a:spcBef>
              <a:spcAft>
                <a:spcPts val="0"/>
              </a:spcAft>
              <a:buNone/>
            </a:pPr>
            <a:fld id="{00000000-1234-1234-1234-123412341234}"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353301" y="2138776"/>
            <a:ext cx="3718420" cy="4109624"/>
          </a:xfrm>
        </p:spPr>
        <p:txBody>
          <a:bodyPr vert="horz" lIns="91440" tIns="45720" rIns="91440" bIns="45720" rtlCol="0" anchor="t">
            <a:normAutofit/>
          </a:bodyPr>
          <a:lstStyle>
            <a:lvl1pPr marL="457200" indent="-457200">
              <a:buFont typeface="+mj-lt"/>
              <a:buAutoNum type="arabicPeriod"/>
              <a:defRPr lang="en-US" sz="1400" dirty="0">
                <a:solidFill>
                  <a:schemeClr val="tx1"/>
                </a:solidFill>
              </a:defRPr>
            </a:lvl1pPr>
            <a:lvl2pPr marL="571500" indent="-342900">
              <a:buFont typeface="+mj-lt"/>
              <a:buAutoNum type="arabicPeriod"/>
              <a:defRPr lang="en-US" sz="1400" dirty="0">
                <a:solidFill>
                  <a:schemeClr val="tx1"/>
                </a:solidFill>
              </a:defRPr>
            </a:lvl2pPr>
            <a:lvl3pPr marL="800100" indent="-342900">
              <a:buFont typeface="+mj-lt"/>
              <a:buAutoNum type="arabicPeriod"/>
              <a:defRPr lang="en-US" sz="1400" dirty="0">
                <a:solidFill>
                  <a:schemeClr val="tx1"/>
                </a:solidFill>
              </a:defRPr>
            </a:lvl3pPr>
            <a:lvl4pPr>
              <a:buFont typeface="+mj-lt"/>
              <a:buAutoNum type="arabicPeriod"/>
              <a:defRPr lang="en-US" sz="1400" dirty="0">
                <a:solidFill>
                  <a:schemeClr val="tx1"/>
                </a:solidFill>
              </a:defRPr>
            </a:lvl4pPr>
            <a:lvl5pPr>
              <a:buFont typeface="+mj-lt"/>
              <a:buAutoNum type="arabicPeriod"/>
              <a:defRPr lang="en-US" sz="1400"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9291246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bg>
      <p:bgPr>
        <a:solidFill>
          <a:srgbClr val="09090C"/>
        </a:solidFill>
        <a:effectLst/>
      </p:bgPr>
    </p:bg>
    <p:spTree>
      <p:nvGrpSpPr>
        <p:cNvPr id="1" name=""/>
        <p:cNvGrpSpPr/>
        <p:nvPr/>
      </p:nvGrpSpPr>
      <p:grpSpPr>
        <a:xfrm>
          <a:off x="0" y="0"/>
          <a:ext cx="0" cy="0"/>
          <a:chOff x="0" y="0"/>
          <a:chExt cx="0" cy="0"/>
        </a:xfrm>
      </p:grpSpPr>
      <p:pic>
        <p:nvPicPr>
          <p:cNvPr id="6" name="Picture 5" descr="A black background with a red and yellow light&#10;&#10;AI-generated content may be incorrect.">
            <a:extLst>
              <a:ext uri="{FF2B5EF4-FFF2-40B4-BE49-F238E27FC236}">
                <a16:creationId xmlns:a16="http://schemas.microsoft.com/office/drawing/2014/main" id="{BD349A90-08FB-AFC0-8649-56404DF7B8C2}"/>
              </a:ext>
            </a:extLst>
          </p:cNvPr>
          <p:cNvPicPr>
            <a:picLocks noChangeAspect="1"/>
          </p:cNvPicPr>
          <p:nvPr/>
        </p:nvPicPr>
        <p:blipFill>
          <a:blip r:embed="rId2">
            <a:extLst>
              <a:ext uri="{28A0092B-C50C-407E-A947-70E740481C1C}">
                <a14:useLocalDpi xmlns:a14="http://schemas.microsoft.com/office/drawing/2010/main" val="0"/>
              </a:ext>
            </a:extLst>
          </a:blip>
          <a:srcRect b="36109"/>
          <a:stretch>
            <a:fillRect/>
          </a:stretch>
        </p:blipFill>
        <p:spPr>
          <a:xfrm rot="10800000" flipH="1">
            <a:off x="-9982" y="2555751"/>
            <a:ext cx="12192000" cy="4343908"/>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90852" y="3481713"/>
            <a:ext cx="5496426" cy="2092272"/>
          </a:xfrm>
        </p:spPr>
        <p:txBody>
          <a:bodyPr anchor="t">
            <a:normAutofit/>
          </a:bodyPr>
          <a:lstStyle>
            <a:lvl1pPr>
              <a:defRPr sz="7600">
                <a:solidFill>
                  <a:schemeClr val="tx1"/>
                </a:solidFill>
              </a:defRPr>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743EA2DD-B019-E3AA-ACB7-13CC3353E8D4}"/>
              </a:ext>
            </a:extLst>
          </p:cNvPr>
          <p:cNvSpPr>
            <a:spLocks noGrp="1"/>
          </p:cNvSpPr>
          <p:nvPr>
            <p:ph type="pic" sz="quarter" idx="14" hasCustomPrompt="1"/>
          </p:nvPr>
        </p:nvSpPr>
        <p:spPr>
          <a:xfrm>
            <a:off x="0" y="0"/>
            <a:ext cx="12192000" cy="2555751"/>
          </a:xfrm>
          <a:blipFill>
            <a:blip r:embed="rId3">
              <a:alphaModFix amt="65000"/>
            </a:blip>
            <a:stretch>
              <a:fillRect/>
            </a:stretch>
          </a:blipFill>
        </p:spPr>
        <p:txBody>
          <a:bodyPr/>
          <a:lstStyle>
            <a:lvl1pPr>
              <a:defRPr>
                <a:solidFill>
                  <a:schemeClr val="tx1"/>
                </a:solidFill>
              </a:defRPr>
            </a:lvl1pPr>
          </a:lstStyle>
          <a:p>
            <a:r>
              <a:rPr lang="en-US" dirty="0"/>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33660" y="2734068"/>
            <a:ext cx="2727331" cy="338328"/>
          </a:xfrm>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785567" y="2734068"/>
            <a:ext cx="1586711" cy="338328"/>
          </a:xfrm>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316614" y="2734068"/>
            <a:ext cx="526695" cy="338328"/>
          </a:xfrm>
        </p:spPr>
        <p:txBody>
          <a:bodyPr/>
          <a:lstStyle>
            <a:lvl1pPr>
              <a:defRPr>
                <a:solidFill>
                  <a:schemeClr val="tx1"/>
                </a:solidFill>
              </a:defRPr>
            </a:lvl1pPr>
          </a:lstStyle>
          <a:p>
            <a:pPr marL="0" lvl="0" indent="0" algn="r" rtl="0">
              <a:spcBef>
                <a:spcPts val="0"/>
              </a:spcBef>
              <a:spcAft>
                <a:spcPts val="0"/>
              </a:spcAft>
              <a:buNone/>
            </a:pPr>
            <a:fld id="{00000000-1234-1234-1234-123412341234}"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785567" y="3481713"/>
            <a:ext cx="3916103" cy="2765887"/>
          </a:xfrm>
        </p:spPr>
        <p:txBody>
          <a:bodyPr vert="horz" lIns="91440" tIns="45720" rIns="91440" bIns="45720" rtlCol="0">
            <a:normAutofit/>
          </a:bodyPr>
          <a:lstStyle>
            <a:lvl1pPr marL="342900" indent="-342900">
              <a:lnSpc>
                <a:spcPct val="130000"/>
              </a:lnSpc>
              <a:buFont typeface="+mj-lt"/>
              <a:buAutoNum type="arabicPeriod"/>
              <a:defRPr lang="en-US" sz="1400" dirty="0">
                <a:solidFill>
                  <a:schemeClr val="tx1"/>
                </a:solidFill>
              </a:defRPr>
            </a:lvl1pPr>
            <a:lvl2pPr marL="571500" indent="-342900">
              <a:lnSpc>
                <a:spcPct val="130000"/>
              </a:lnSpc>
              <a:buFont typeface="+mj-lt"/>
              <a:buAutoNum type="arabicPeriod"/>
              <a:defRPr lang="en-US" sz="1400" dirty="0">
                <a:solidFill>
                  <a:schemeClr val="tx1"/>
                </a:solidFill>
              </a:defRPr>
            </a:lvl2pPr>
            <a:lvl3pPr marL="800100" indent="-342900">
              <a:lnSpc>
                <a:spcPct val="130000"/>
              </a:lnSpc>
              <a:buFont typeface="+mj-lt"/>
              <a:buAutoNum type="arabicPeriod"/>
              <a:defRPr lang="en-US" sz="1400" dirty="0">
                <a:solidFill>
                  <a:schemeClr val="tx1"/>
                </a:solidFill>
              </a:defRPr>
            </a:lvl3pPr>
            <a:lvl4pPr>
              <a:lnSpc>
                <a:spcPct val="130000"/>
              </a:lnSpc>
              <a:buFont typeface="+mj-lt"/>
              <a:buAutoNum type="arabicPeriod"/>
              <a:defRPr lang="en-US" sz="1400" dirty="0">
                <a:solidFill>
                  <a:schemeClr val="tx1"/>
                </a:solidFill>
              </a:defRPr>
            </a:lvl4pPr>
            <a:lvl5pPr>
              <a:lnSpc>
                <a:spcPct val="130000"/>
              </a:lnSpc>
              <a:buFont typeface="+mj-lt"/>
              <a:buAutoNum type="arabicPeriod"/>
              <a:defRPr lang="en-US" sz="1400" dirty="0">
                <a:solidFill>
                  <a:schemeClr val="tx1"/>
                </a:solidFill>
              </a:defRPr>
            </a:lvl5pPr>
          </a:lstStyle>
          <a:p>
            <a:pPr marL="228600" lvl="0" indent="-228600"/>
            <a:r>
              <a:rPr lang="en-US"/>
              <a:t>Click to edit Master text styles</a:t>
            </a:r>
          </a:p>
          <a:p>
            <a:pPr marL="228600" lvl="1" indent="-228600"/>
            <a:r>
              <a:rPr lang="en-US"/>
              <a:t>Second level</a:t>
            </a:r>
          </a:p>
          <a:p>
            <a:pPr marL="228600" lvl="2" indent="-228600"/>
            <a:r>
              <a:rPr lang="en-US"/>
              <a:t>Third level</a:t>
            </a:r>
          </a:p>
          <a:p>
            <a:pPr marL="228600" lvl="3" indent="-228600"/>
            <a:r>
              <a:rPr lang="en-US"/>
              <a:t>Fourth level</a:t>
            </a:r>
          </a:p>
          <a:p>
            <a:pPr marL="228600" lvl="4" indent="-228600"/>
            <a:r>
              <a:rPr lang="en-US"/>
              <a:t>Fifth level</a:t>
            </a:r>
            <a:endParaRPr lang="en-US" dirty="0"/>
          </a:p>
        </p:txBody>
      </p:sp>
    </p:spTree>
    <p:extLst>
      <p:ext uri="{BB962C8B-B14F-4D97-AF65-F5344CB8AC3E}">
        <p14:creationId xmlns:p14="http://schemas.microsoft.com/office/powerpoint/2010/main" val="165817536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pic>
        <p:nvPicPr>
          <p:cNvPr id="23" name="Picture 22" descr="A purple and black background&#10;&#10;AI-generated content may be incorrect.">
            <a:extLst>
              <a:ext uri="{FF2B5EF4-FFF2-40B4-BE49-F238E27FC236}">
                <a16:creationId xmlns:a16="http://schemas.microsoft.com/office/drawing/2014/main" id="{518E8C82-2B1B-76C7-A67D-099AEEEAD0DA}"/>
              </a:ext>
            </a:extLst>
          </p:cNvPr>
          <p:cNvPicPr>
            <a:picLocks noChangeAspect="1"/>
          </p:cNvPicPr>
          <p:nvPr/>
        </p:nvPicPr>
        <p:blipFill>
          <a:blip r:embed="rId2">
            <a:extLst>
              <a:ext uri="{28A0092B-C50C-407E-A947-70E740481C1C}">
                <a14:useLocalDpi xmlns:a14="http://schemas.microsoft.com/office/drawing/2010/main" val="0"/>
              </a:ext>
            </a:extLst>
          </a:blip>
          <a:srcRect l="11509"/>
          <a:stretch>
            <a:fillRect/>
          </a:stretch>
        </p:blipFill>
        <p:spPr>
          <a:xfrm>
            <a:off x="6324601" y="1"/>
            <a:ext cx="5881254"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18851" y="1276990"/>
            <a:ext cx="5378267" cy="985658"/>
          </a:xfrm>
        </p:spPr>
        <p:txBody>
          <a:bodyPr anchor="b"/>
          <a:lstStyle>
            <a:lvl1pPr>
              <a:defRPr>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8801100" y="214858"/>
            <a:ext cx="1941840" cy="338328"/>
          </a:xfrm>
        </p:spPr>
        <p:txBody>
          <a:bodyPr/>
          <a:lstStyle>
            <a:lvl1pPr>
              <a:defRPr>
                <a:solidFill>
                  <a:schemeClr val="tx1"/>
                </a:solidFill>
              </a:defRPr>
            </a:lvl1pPr>
          </a:lstStyle>
          <a:p>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0295" y="214858"/>
            <a:ext cx="555948" cy="338328"/>
          </a:xfrm>
        </p:spPr>
        <p:txBody>
          <a:bodyPr/>
          <a:lstStyle>
            <a:lvl1pPr>
              <a:defRPr>
                <a:solidFill>
                  <a:schemeClr val="tx1"/>
                </a:solidFill>
              </a:defRPr>
            </a:lvl1pPr>
          </a:lstStyle>
          <a:p>
            <a:pPr marL="0" lvl="0" indent="0" algn="r" rtl="0">
              <a:spcBef>
                <a:spcPts val="0"/>
              </a:spcBef>
              <a:spcAft>
                <a:spcPts val="0"/>
              </a:spcAft>
              <a:buNone/>
            </a:pPr>
            <a:fld id="{00000000-1234-1234-1234-123412341234}" type="slidenum">
              <a:rPr lang="en-US" smtClean="0"/>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27477" y="2471736"/>
            <a:ext cx="5378268" cy="366273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28988377"/>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bg>
      <p:bgPr>
        <a:solidFill>
          <a:srgbClr val="09090C"/>
        </a:solidFill>
        <a:effectLst/>
      </p:bgPr>
    </p:bg>
    <p:spTree>
      <p:nvGrpSpPr>
        <p:cNvPr id="1" name=""/>
        <p:cNvGrpSpPr/>
        <p:nvPr/>
      </p:nvGrpSpPr>
      <p:grpSpPr>
        <a:xfrm>
          <a:off x="0" y="0"/>
          <a:ext cx="0" cy="0"/>
          <a:chOff x="0" y="0"/>
          <a:chExt cx="0" cy="0"/>
        </a:xfrm>
      </p:grpSpPr>
      <p:pic>
        <p:nvPicPr>
          <p:cNvPr id="9" name="Picture 8" descr="A black background with a purple and orange light&#10;&#10;AI-generated content may be incorrect.">
            <a:extLst>
              <a:ext uri="{FF2B5EF4-FFF2-40B4-BE49-F238E27FC236}">
                <a16:creationId xmlns:a16="http://schemas.microsoft.com/office/drawing/2014/main" id="{E41EB56E-DF88-E5AB-35AF-891395DCDB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4406900"/>
            <a:ext cx="9144000" cy="24511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899" y="1886712"/>
            <a:ext cx="3507989" cy="3233928"/>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19100" y="208394"/>
            <a:ext cx="2532118" cy="338328"/>
          </a:xfrm>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5867400" y="208394"/>
            <a:ext cx="2017548" cy="338328"/>
          </a:xfrm>
        </p:spPr>
        <p:txBody>
          <a:bodyPr/>
          <a:lstStyle>
            <a:lvl1pPr>
              <a:defRPr>
                <a:solidFill>
                  <a:schemeClr val="tx1"/>
                </a:solidFill>
              </a:defRPr>
            </a:lvl1pPr>
          </a:lstStyle>
          <a:p>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6588" y="208394"/>
            <a:ext cx="553156" cy="338328"/>
          </a:xfrm>
        </p:spPr>
        <p:txBody>
          <a:bodyPr/>
          <a:lstStyle>
            <a:lvl1pPr>
              <a:defRPr>
                <a:solidFill>
                  <a:schemeClr val="tx1"/>
                </a:solidFill>
              </a:defRPr>
            </a:lvl1pPr>
          </a:lstStyle>
          <a:p>
            <a:pPr marL="0" lvl="0" indent="0" algn="r" rtl="0">
              <a:spcBef>
                <a:spcPts val="0"/>
              </a:spcBef>
              <a:spcAft>
                <a:spcPts val="0"/>
              </a:spcAft>
              <a:buNone/>
            </a:pPr>
            <a:fld id="{00000000-1234-1234-1234-123412341234}" type="slidenum">
              <a:rPr lang="en-US" smtClean="0"/>
              <a:t>‹#›</a:t>
            </a:fld>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867401" y="1886712"/>
            <a:ext cx="4495800" cy="3233928"/>
          </a:xfrm>
        </p:spPr>
        <p:txBody>
          <a:bodyPr vert="horz" lIns="91440" tIns="45720" rIns="91440" bIns="45720" rtlCol="0">
            <a:normAutofit/>
          </a:bodyPr>
          <a:lstStyle>
            <a:lvl1pPr>
              <a:defRPr lang="en-US">
                <a:solidFill>
                  <a:schemeClr val="tx1"/>
                </a:solidFill>
              </a:defRPr>
            </a:lvl1pPr>
            <a:lvl2pPr>
              <a:defRPr lang="en-US">
                <a:solidFill>
                  <a:schemeClr val="tx1"/>
                </a:solidFill>
              </a:defRPr>
            </a:lvl2pPr>
            <a:lvl3pPr>
              <a:defRPr lang="en-US">
                <a:solidFill>
                  <a:schemeClr val="tx1"/>
                </a:solidFill>
              </a:defRPr>
            </a:lvl3pPr>
            <a:lvl4pPr>
              <a:defRPr lang="en-US">
                <a:solidFill>
                  <a:schemeClr val="tx1"/>
                </a:solidFill>
              </a:defRPr>
            </a:lvl4pPr>
            <a:lvl5pPr>
              <a:defRPr lang="en-US">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8625638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8436" y="1115568"/>
            <a:ext cx="2505264" cy="1624122"/>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684048"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74064" y="215823"/>
            <a:ext cx="1485900" cy="338328"/>
          </a:xfrm>
        </p:spPr>
        <p:txBody>
          <a:bodyPr/>
          <a:lstStyle>
            <a:lvl1pPr>
              <a:defRPr>
                <a:solidFill>
                  <a:schemeClr val="tx1"/>
                </a:solidFill>
                <a:effectLst/>
              </a:defRPr>
            </a:lvl1p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8242" y="215823"/>
            <a:ext cx="549272" cy="338328"/>
          </a:xfrm>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8436" y="3028523"/>
            <a:ext cx="2505264" cy="3410378"/>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DB2531DA-E07E-34C2-010B-27DB8B004926}"/>
              </a:ext>
            </a:extLst>
          </p:cNvPr>
          <p:cNvSpPr>
            <a:spLocks noGrp="1"/>
          </p:cNvSpPr>
          <p:nvPr>
            <p:ph type="pic" sz="quarter" idx="15" hasCustomPrompt="1"/>
          </p:nvPr>
        </p:nvSpPr>
        <p:spPr>
          <a:xfrm>
            <a:off x="3374064" y="1181100"/>
            <a:ext cx="8817936" cy="5676900"/>
          </a:xfrm>
          <a:blipFill>
            <a:blip r:embed="rId2">
              <a:alphaModFix amt="65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308030511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4000500" cy="1352516"/>
          </a:xfrm>
        </p:spPr>
        <p:txBody>
          <a:bodyPr anchor="t">
            <a:normAutofit/>
          </a:bodyPr>
          <a:lstStyle>
            <a:lvl1pPr>
              <a:defRPr sz="30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19456"/>
            <a:ext cx="2727930"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47899" y="219456"/>
            <a:ext cx="1747774" cy="338328"/>
          </a:xfr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3948" y="216280"/>
            <a:ext cx="551113" cy="338328"/>
          </a:xfrm>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7899" y="1104900"/>
            <a:ext cx="6925002" cy="1352516"/>
          </a:xfrm>
        </p:spPr>
        <p:txBody>
          <a:bodyPr>
            <a:normAutofit/>
          </a:bodyPr>
          <a:lstStyle>
            <a:lvl1pPr marL="285750" indent="-285750">
              <a:buFont typeface="Arial" panose="020B0604020202020204" pitchFamily="34" charset="0"/>
              <a:buNone/>
              <a:defRPr sz="1400"/>
            </a:lvl1pPr>
            <a:lvl2pPr marL="514350" indent="-285750">
              <a:buFont typeface="Arial" panose="020B0604020202020204" pitchFamily="34" charset="0"/>
              <a:buNone/>
              <a:defRPr sz="1400"/>
            </a:lvl2pPr>
            <a:lvl3pPr marL="742950" indent="-285750">
              <a:buFont typeface="Arial" panose="020B0604020202020204" pitchFamily="34" charset="0"/>
              <a:buNone/>
              <a:defRPr sz="1400"/>
            </a:lvl3pPr>
            <a:lvl4pPr marL="857250" indent="-171450">
              <a:buFont typeface="Arial" panose="020B0604020202020204" pitchFamily="34" charset="0"/>
              <a:buNone/>
              <a:defRPr sz="1400"/>
            </a:lvl4pPr>
            <a:lvl5pPr marL="1085850" indent="-17145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2">
            <a:extLst>
              <a:ext uri="{FF2B5EF4-FFF2-40B4-BE49-F238E27FC236}">
                <a16:creationId xmlns:a16="http://schemas.microsoft.com/office/drawing/2014/main" id="{C346877B-7C99-D26C-DFEC-72A4289A8FAC}"/>
              </a:ext>
            </a:extLst>
          </p:cNvPr>
          <p:cNvSpPr>
            <a:spLocks noGrp="1"/>
          </p:cNvSpPr>
          <p:nvPr>
            <p:ph type="pic" sz="quarter" idx="15" hasCustomPrompt="1"/>
          </p:nvPr>
        </p:nvSpPr>
        <p:spPr>
          <a:xfrm>
            <a:off x="0" y="2938509"/>
            <a:ext cx="12192000" cy="3919491"/>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164313198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2514600" cy="2918919"/>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514600" cy="338328"/>
          </a:xfrm>
        </p:spPr>
        <p:txBody>
          <a:bodyPr/>
          <a:lstStyle>
            <a:lvl1pPr>
              <a:defRPr>
                <a:solidFill>
                  <a:schemeClr val="tx1"/>
                </a:solidFill>
                <a:effectLst/>
              </a:defRPr>
            </a:lvl1pPr>
          </a:lstStyle>
          <a:p>
            <a:endParaRPr lang="en-US"/>
          </a:p>
        </p:txBody>
      </p:sp>
      <p:sp>
        <p:nvSpPr>
          <p:cNvPr id="9" name="Picture Placeholder 8">
            <a:extLst>
              <a:ext uri="{FF2B5EF4-FFF2-40B4-BE49-F238E27FC236}">
                <a16:creationId xmlns:a16="http://schemas.microsoft.com/office/drawing/2014/main" id="{1EB6A322-B3CC-9AE7-DB63-8B433811BD63}"/>
              </a:ext>
            </a:extLst>
          </p:cNvPr>
          <p:cNvSpPr>
            <a:spLocks noGrp="1"/>
          </p:cNvSpPr>
          <p:nvPr>
            <p:ph type="pic" sz="quarter" idx="15" hasCustomPrompt="1"/>
          </p:nvPr>
        </p:nvSpPr>
        <p:spPr>
          <a:xfrm>
            <a:off x="3423747" y="0"/>
            <a:ext cx="8768253" cy="3985719"/>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52800" y="4077628"/>
            <a:ext cx="1920240" cy="338328"/>
          </a:xfr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4077628"/>
            <a:ext cx="555948" cy="338328"/>
          </a:xfrm>
        </p:spPr>
        <p:txBody>
          <a:bodyPr/>
          <a:lstStyle>
            <a:lvl1pPr>
              <a:defRPr>
                <a:solidFill>
                  <a:schemeClr val="tx1"/>
                </a:solidFill>
                <a:effectLst/>
              </a:defRPr>
            </a:lvl1pPr>
          </a:lstStyle>
          <a:p>
            <a:pPr marL="0" lvl="0" indent="0" algn="r" rtl="0">
              <a:spcBef>
                <a:spcPts val="0"/>
              </a:spcBef>
              <a:spcAft>
                <a:spcPts val="0"/>
              </a:spcAft>
              <a:buNone/>
            </a:pPr>
            <a:fld id="{00000000-1234-1234-1234-123412341234}"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352800" y="4423576"/>
            <a:ext cx="8420100" cy="1824824"/>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7555183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881339" y="1115568"/>
            <a:ext cx="5247577" cy="994131"/>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933700"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896579" y="209088"/>
            <a:ext cx="1844044" cy="338328"/>
          </a:xfrm>
        </p:spPr>
        <p:txBody>
          <a:bodyPr/>
          <a:lstStyle>
            <a:lvl1pPr>
              <a:defRPr>
                <a:solidFill>
                  <a:schemeClr val="tx1"/>
                </a:solidFill>
                <a:effectLst/>
              </a:defRPr>
            </a:lvl1p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34185" y="209088"/>
            <a:ext cx="555948" cy="338328"/>
          </a:xfrm>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4" name="Picture Placeholder 3">
            <a:extLst>
              <a:ext uri="{FF2B5EF4-FFF2-40B4-BE49-F238E27FC236}">
                <a16:creationId xmlns:a16="http://schemas.microsoft.com/office/drawing/2014/main" id="{F3BFBE8F-8803-50FD-04BC-3A247F9767CF}"/>
              </a:ext>
            </a:extLst>
          </p:cNvPr>
          <p:cNvSpPr>
            <a:spLocks noGrp="1"/>
          </p:cNvSpPr>
          <p:nvPr>
            <p:ph type="pic" sz="quarter" idx="15" hasCustomPrompt="1"/>
          </p:nvPr>
        </p:nvSpPr>
        <p:spPr>
          <a:xfrm>
            <a:off x="0" y="1181100"/>
            <a:ext cx="5247577" cy="5676900"/>
          </a:xfrm>
          <a:blipFill>
            <a:blip r:embed="rId2">
              <a:alphaModFix amt="65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881339" y="2133600"/>
            <a:ext cx="5247577" cy="41148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7109861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6057" y="1115568"/>
            <a:ext cx="3607670" cy="3170545"/>
          </a:xfrm>
        </p:spPr>
        <p:txBody>
          <a:bodyPr anchor="t">
            <a:normAutofit/>
          </a:bodyPr>
          <a:lstStyle>
            <a:lvl1pPr>
              <a:defRPr sz="30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4858"/>
            <a:ext cx="2597106"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45909" y="214858"/>
            <a:ext cx="1586711" cy="338328"/>
          </a:xfr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7610" y="214858"/>
            <a:ext cx="555948" cy="338328"/>
          </a:xfrm>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5909" y="1112672"/>
            <a:ext cx="6926991" cy="1967808"/>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121707E4-5122-AA3B-7CFC-6AF9C0BAC463}"/>
              </a:ext>
            </a:extLst>
          </p:cNvPr>
          <p:cNvSpPr>
            <a:spLocks noGrp="1"/>
          </p:cNvSpPr>
          <p:nvPr>
            <p:ph type="pic" sz="quarter" idx="15" hasCustomPrompt="1"/>
          </p:nvPr>
        </p:nvSpPr>
        <p:spPr>
          <a:xfrm>
            <a:off x="4903079" y="3500203"/>
            <a:ext cx="7288921" cy="3357797"/>
          </a:xfrm>
          <a:custGeom>
            <a:avLst/>
            <a:gdLst>
              <a:gd name="connsiteX0" fmla="*/ 0 w 7391400"/>
              <a:gd name="connsiteY0" fmla="*/ 0 h 3018269"/>
              <a:gd name="connsiteX1" fmla="*/ 7391400 w 7391400"/>
              <a:gd name="connsiteY1" fmla="*/ 0 h 3018269"/>
              <a:gd name="connsiteX2" fmla="*/ 7391400 w 7391400"/>
              <a:gd name="connsiteY2" fmla="*/ 3018269 h 3018269"/>
              <a:gd name="connsiteX3" fmla="*/ 0 w 7391400"/>
              <a:gd name="connsiteY3" fmla="*/ 3018269 h 3018269"/>
            </a:gdLst>
            <a:ahLst/>
            <a:cxnLst>
              <a:cxn ang="0">
                <a:pos x="connsiteX0" y="connsiteY0"/>
              </a:cxn>
              <a:cxn ang="0">
                <a:pos x="connsiteX1" y="connsiteY1"/>
              </a:cxn>
              <a:cxn ang="0">
                <a:pos x="connsiteX2" y="connsiteY2"/>
              </a:cxn>
              <a:cxn ang="0">
                <a:pos x="connsiteX3" y="connsiteY3"/>
              </a:cxn>
            </a:cxnLst>
            <a:rect l="l" t="t" r="r" b="b"/>
            <a:pathLst>
              <a:path w="7391400" h="3018269">
                <a:moveTo>
                  <a:pt x="0" y="0"/>
                </a:moveTo>
                <a:lnTo>
                  <a:pt x="7391400" y="0"/>
                </a:lnTo>
                <a:lnTo>
                  <a:pt x="7391400" y="3018269"/>
                </a:lnTo>
                <a:lnTo>
                  <a:pt x="0" y="3018269"/>
                </a:lnTo>
                <a:close/>
              </a:path>
            </a:pathLst>
          </a:cu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235645191"/>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2393" y="3429001"/>
            <a:ext cx="2501307" cy="2551982"/>
          </a:xfrm>
        </p:spPr>
        <p:txBody>
          <a:bodyPr anchor="t">
            <a:normAutofit/>
          </a:bodyPr>
          <a:lstStyle>
            <a:lvl1pPr>
              <a:defRPr sz="3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8402C8AD-A927-B946-5850-6500487D6883}"/>
              </a:ext>
            </a:extLst>
          </p:cNvPr>
          <p:cNvSpPr>
            <a:spLocks noGrp="1"/>
          </p:cNvSpPr>
          <p:nvPr>
            <p:ph type="pic" sz="quarter" idx="15" hasCustomPrompt="1"/>
          </p:nvPr>
        </p:nvSpPr>
        <p:spPr>
          <a:xfrm>
            <a:off x="0" y="1"/>
            <a:ext cx="12192000" cy="2705099"/>
          </a:xfrm>
          <a:blipFill>
            <a:blip r:embed="rId2">
              <a:alphaModFix amt="60000"/>
            </a:blip>
            <a:stretch>
              <a:fillRect/>
            </a:stretch>
          </a:blipFill>
        </p:spPr>
        <p:txBody>
          <a:bodyPr/>
          <a:lstStyle>
            <a:lvl1pPr>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865290"/>
            <a:ext cx="2726376"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52799" y="2865290"/>
            <a:ext cx="1967345" cy="338328"/>
          </a:xfr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2865290"/>
            <a:ext cx="555948" cy="338328"/>
          </a:xfrm>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352800" y="3429000"/>
            <a:ext cx="8210204" cy="3009900"/>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62878228"/>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6230" y="1115568"/>
            <a:ext cx="3603256" cy="1409878"/>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38700" y="209088"/>
            <a:ext cx="2514600" cy="338328"/>
          </a:xfr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86019" y="219456"/>
            <a:ext cx="564341" cy="338328"/>
          </a:xfrm>
        </p:spPr>
        <p:txBody>
          <a:bodyPr/>
          <a:lstStyle>
            <a:lvl1pPr>
              <a:defRPr>
                <a:solidFill>
                  <a:schemeClr val="tx1"/>
                </a:solidFill>
                <a:effectLst/>
              </a:defRPr>
            </a:lvl1pPr>
          </a:lstStyle>
          <a:p>
            <a:pPr marL="0" lvl="0" indent="0" algn="r" rtl="0">
              <a:spcBef>
                <a:spcPts val="0"/>
              </a:spcBef>
              <a:spcAft>
                <a:spcPts val="0"/>
              </a:spcAft>
              <a:buNone/>
            </a:pPr>
            <a:fld id="{00000000-1234-1234-1234-123412341234}" type="slidenum">
              <a:rPr lang="en-US" smtClean="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46230" y="2705100"/>
            <a:ext cx="3603256" cy="36957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183D1CED-EDC4-B2B7-E11C-EF0ED41A9136}"/>
              </a:ext>
            </a:extLst>
          </p:cNvPr>
          <p:cNvSpPr>
            <a:spLocks noGrp="1"/>
          </p:cNvSpPr>
          <p:nvPr>
            <p:ph type="pic" sz="quarter" idx="15" hasCustomPrompt="1"/>
          </p:nvPr>
        </p:nvSpPr>
        <p:spPr>
          <a:xfrm>
            <a:off x="4935269" y="1175658"/>
            <a:ext cx="7256731" cy="5682342"/>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2277348730"/>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4607626"/>
            <a:ext cx="4419600" cy="1640774"/>
          </a:xfrm>
        </p:spPr>
        <p:txBody>
          <a:bodyPr anchor="t"/>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04508209-B462-E74A-288F-8910B06DE3A1}"/>
              </a:ext>
            </a:extLst>
          </p:cNvPr>
          <p:cNvSpPr>
            <a:spLocks noGrp="1"/>
          </p:cNvSpPr>
          <p:nvPr>
            <p:ph type="pic" sz="quarter" idx="15" hasCustomPrompt="1"/>
          </p:nvPr>
        </p:nvSpPr>
        <p:spPr>
          <a:xfrm>
            <a:off x="1914" y="0"/>
            <a:ext cx="4836786" cy="4214191"/>
          </a:xfrm>
          <a:blipFill>
            <a:blip r:embed="rId2">
              <a:alphaModFix amt="60000"/>
            </a:blip>
            <a:stretch>
              <a:fillRect/>
            </a:stretch>
          </a:blipFill>
        </p:spPr>
        <p:txBody>
          <a:bodyPr/>
          <a:lstStyle>
            <a:lvl1pPr>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541275" y="209088"/>
            <a:ext cx="2726376"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01100" y="214858"/>
            <a:ext cx="1905250" cy="338328"/>
          </a:xfrm>
        </p:spPr>
        <p:txBody>
          <a:bodyPr/>
          <a:lstStyle>
            <a:lvl1pPr>
              <a:defRPr>
                <a:solidFill>
                  <a:schemeClr val="tx1"/>
                </a:solidFill>
                <a:effectLst/>
              </a:defRPr>
            </a:lvl1p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41276" y="1104900"/>
            <a:ext cx="5750381" cy="5143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13492455"/>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3105335" cy="1636510"/>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726376"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055522" y="214858"/>
            <a:ext cx="2536988" cy="338328"/>
          </a:xfr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2840" y="214858"/>
            <a:ext cx="555948" cy="338328"/>
          </a:xfrm>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4" name="Picture Placeholder 3">
            <a:extLst>
              <a:ext uri="{FF2B5EF4-FFF2-40B4-BE49-F238E27FC236}">
                <a16:creationId xmlns:a16="http://schemas.microsoft.com/office/drawing/2014/main" id="{EA8D0EC2-AB64-20F7-00E1-73B35DEAA2D7}"/>
              </a:ext>
            </a:extLst>
          </p:cNvPr>
          <p:cNvSpPr>
            <a:spLocks noGrp="1"/>
          </p:cNvSpPr>
          <p:nvPr>
            <p:ph type="pic" sz="quarter" idx="15" hasCustomPrompt="1"/>
          </p:nvPr>
        </p:nvSpPr>
        <p:spPr>
          <a:xfrm>
            <a:off x="1" y="3017520"/>
            <a:ext cx="3417902" cy="3840480"/>
          </a:xfrm>
          <a:blipFill>
            <a:blip r:embed="rId2">
              <a:alphaModFix amt="65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055522" y="1104901"/>
            <a:ext cx="7476571" cy="53339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95947903"/>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C26FEAF5-B987-7B83-7D1F-A4C535E2B000}"/>
              </a:ext>
            </a:extLst>
          </p:cNvPr>
          <p:cNvPicPr>
            <a:picLocks noChangeAspect="1"/>
          </p:cNvPicPr>
          <p:nvPr/>
        </p:nvPicPr>
        <p:blipFill>
          <a:blip r:embed="rId2">
            <a:extLst>
              <a:ext uri="{28A0092B-C50C-407E-A947-70E740481C1C}">
                <a14:useLocalDpi xmlns:a14="http://schemas.microsoft.com/office/drawing/2010/main" val="0"/>
              </a:ext>
            </a:extLst>
          </a:blip>
          <a:srcRect t="17701" r="5781"/>
          <a:stretch>
            <a:fillRect/>
          </a:stretch>
        </p:blipFill>
        <p:spPr>
          <a:xfrm rot="10800000" flipH="1">
            <a:off x="0" y="-1"/>
            <a:ext cx="12192000" cy="6864096"/>
          </a:xfrm>
          <a:prstGeom prst="rect">
            <a:avLst/>
          </a:prstGeom>
        </p:spPr>
      </p:pic>
      <p:sp>
        <p:nvSpPr>
          <p:cNvPr id="9" name="Title 8">
            <a:extLst>
              <a:ext uri="{FF2B5EF4-FFF2-40B4-BE49-F238E27FC236}">
                <a16:creationId xmlns:a16="http://schemas.microsoft.com/office/drawing/2014/main" id="{E9DD887D-B316-418B-8AF4-4F941223A039}"/>
              </a:ext>
            </a:extLst>
          </p:cNvPr>
          <p:cNvSpPr>
            <a:spLocks noGrp="1"/>
          </p:cNvSpPr>
          <p:nvPr>
            <p:ph type="title"/>
          </p:nvPr>
        </p:nvSpPr>
        <p:spPr>
          <a:xfrm>
            <a:off x="7772400" y="5082379"/>
            <a:ext cx="4000500" cy="1169230"/>
          </a:xfrm>
        </p:spPr>
        <p:txBody>
          <a:bodyPr anchor="b">
            <a:normAutofit/>
          </a:bodyPr>
          <a:lstStyle>
            <a:lvl1pPr>
              <a:defRPr sz="2000" spc="-50" baseline="0"/>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a:xfrm>
            <a:off x="7772400" y="209088"/>
            <a:ext cx="1970690" cy="338328"/>
          </a:xfrm>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1"/>
                </a:solidFill>
              </a:defRPr>
            </a:lvl1pPr>
          </a:lstStyle>
          <a:p>
            <a:pPr marL="0" lvl="0" indent="0" algn="r" rtl="0">
              <a:spcBef>
                <a:spcPts val="0"/>
              </a:spcBef>
              <a:spcAft>
                <a:spcPts val="0"/>
              </a:spcAft>
              <a:buNone/>
            </a:pPr>
            <a:fld id="{00000000-1234-1234-1234-123412341234}" type="slidenum">
              <a:rPr lang="en-US" smtClean="0"/>
              <a:t>‹#›</a:t>
            </a:fld>
            <a:endParaRPr lang="en-US"/>
          </a:p>
        </p:txBody>
      </p:sp>
      <p:sp>
        <p:nvSpPr>
          <p:cNvPr id="12" name="Content Placeholder 11">
            <a:extLst>
              <a:ext uri="{FF2B5EF4-FFF2-40B4-BE49-F238E27FC236}">
                <a16:creationId xmlns:a16="http://schemas.microsoft.com/office/drawing/2014/main" id="{942D9118-C154-84FE-9D86-92525287F07F}"/>
              </a:ext>
            </a:extLst>
          </p:cNvPr>
          <p:cNvSpPr>
            <a:spLocks noGrp="1"/>
          </p:cNvSpPr>
          <p:nvPr>
            <p:ph sz="quarter" idx="14" hasCustomPrompt="1"/>
          </p:nvPr>
        </p:nvSpPr>
        <p:spPr>
          <a:xfrm>
            <a:off x="280988" y="1063625"/>
            <a:ext cx="10428287" cy="3508375"/>
          </a:xfrm>
        </p:spPr>
        <p:txBody>
          <a:bodyPr>
            <a:noAutofit/>
          </a:bodyPr>
          <a:lstStyle>
            <a:lvl1pPr>
              <a:lnSpc>
                <a:spcPct val="80000"/>
              </a:lnSpc>
              <a:defRPr sz="26000"/>
            </a:lvl1pPr>
          </a:lstStyle>
          <a:p>
            <a:pPr lvl="0"/>
            <a:r>
              <a:rPr lang="en-US" dirty="0"/>
              <a:t>XX%</a:t>
            </a:r>
          </a:p>
        </p:txBody>
      </p:sp>
    </p:spTree>
    <p:extLst>
      <p:ext uri="{BB962C8B-B14F-4D97-AF65-F5344CB8AC3E}">
        <p14:creationId xmlns:p14="http://schemas.microsoft.com/office/powerpoint/2010/main" val="1943820222"/>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pic>
        <p:nvPicPr>
          <p:cNvPr id="6" name="Picture 5" descr="A red and purple light&#10;&#10;AI-generated content may be incorrect.">
            <a:extLst>
              <a:ext uri="{FF2B5EF4-FFF2-40B4-BE49-F238E27FC236}">
                <a16:creationId xmlns:a16="http://schemas.microsoft.com/office/drawing/2014/main" id="{27A6C04A-3EE2-7293-8111-E4CF6B18B2D4}"/>
              </a:ext>
            </a:extLst>
          </p:cNvPr>
          <p:cNvPicPr>
            <a:picLocks noChangeAspect="1"/>
          </p:cNvPicPr>
          <p:nvPr/>
        </p:nvPicPr>
        <p:blipFill>
          <a:blip r:embed="rId2">
            <a:extLst>
              <a:ext uri="{28A0092B-C50C-407E-A947-70E740481C1C}">
                <a14:useLocalDpi xmlns:a14="http://schemas.microsoft.com/office/drawing/2010/main" val="0"/>
              </a:ext>
            </a:extLst>
          </a:blip>
          <a:srcRect l="7784" t="57458" r="22221" b="1"/>
          <a:stretch>
            <a:fillRect/>
          </a:stretch>
        </p:blipFill>
        <p:spPr>
          <a:xfrm rot="10800000">
            <a:off x="0" y="0"/>
            <a:ext cx="12192000" cy="4802819"/>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pPr marL="0" lvl="0" indent="0" algn="r" rtl="0">
              <a:spcBef>
                <a:spcPts val="0"/>
              </a:spcBef>
              <a:spcAft>
                <a:spcPts val="0"/>
              </a:spcAft>
              <a:buNone/>
            </a:pPr>
            <a:fld id="{00000000-1234-1234-1234-123412341234}"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9099" y="2885606"/>
            <a:ext cx="8801101" cy="3553293"/>
          </a:xfrm>
        </p:spPr>
        <p:txBody>
          <a:bodyPr anchor="b">
            <a:normAutofit/>
          </a:bodyPr>
          <a:lstStyle>
            <a:lvl1pPr marL="0" indent="0">
              <a:lnSpc>
                <a:spcPct val="85000"/>
              </a:lnSpc>
              <a:buNone/>
              <a:defRPr sz="6000" b="0" spc="-50" baseline="0">
                <a:solidFill>
                  <a:schemeClr val="tx1"/>
                </a:solidFill>
              </a:defRPr>
            </a:lvl1pPr>
            <a:lvl2pPr marL="228600" indent="0">
              <a:lnSpc>
                <a:spcPct val="85000"/>
              </a:lnSpc>
              <a:buNone/>
              <a:defRPr sz="4400" b="0" spc="-50" baseline="0">
                <a:solidFill>
                  <a:schemeClr val="tx1"/>
                </a:solidFill>
              </a:defRPr>
            </a:lvl2pPr>
            <a:lvl3pPr marL="457200" indent="0">
              <a:lnSpc>
                <a:spcPct val="85000"/>
              </a:lnSpc>
              <a:buNone/>
              <a:defRPr sz="4000" b="0" spc="-50" baseline="0">
                <a:solidFill>
                  <a:schemeClr val="tx1"/>
                </a:solidFill>
              </a:defRPr>
            </a:lvl3pPr>
            <a:lvl4pPr marL="685800" indent="0">
              <a:lnSpc>
                <a:spcPct val="85000"/>
              </a:lnSpc>
              <a:buNone/>
              <a:defRPr sz="3600" b="0" spc="-50" baseline="0">
                <a:solidFill>
                  <a:schemeClr val="tx1"/>
                </a:solidFill>
              </a:defRPr>
            </a:lvl4pPr>
            <a:lvl5pPr marL="914400" indent="0">
              <a:lnSpc>
                <a:spcPct val="85000"/>
              </a:lnSpc>
              <a:buNone/>
              <a:defRPr sz="3200" b="0" spc="-50" baseline="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44125401"/>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56ABB8EC-1098-DCAC-E2E3-BCA53EEC625D}"/>
              </a:ext>
            </a:extLst>
          </p:cNvPr>
          <p:cNvPicPr>
            <a:picLocks noChangeAspect="1"/>
          </p:cNvPicPr>
          <p:nvPr/>
        </p:nvPicPr>
        <p:blipFill>
          <a:blip r:embed="rId2">
            <a:extLst>
              <a:ext uri="{28A0092B-C50C-407E-A947-70E740481C1C}">
                <a14:useLocalDpi xmlns:a14="http://schemas.microsoft.com/office/drawing/2010/main" val="0"/>
              </a:ext>
            </a:extLst>
          </a:blip>
          <a:srcRect l="1291" t="22024" r="10011"/>
          <a:stretch>
            <a:fillRect/>
          </a:stretch>
        </p:blipFill>
        <p:spPr>
          <a:xfrm rot="10800000" flipH="1">
            <a:off x="0" y="0"/>
            <a:ext cx="12192000" cy="6864096"/>
          </a:xfrm>
          <a:prstGeom prst="rect">
            <a:avLst/>
          </a:prstGeom>
        </p:spPr>
      </p:pic>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866899" y="4874218"/>
            <a:ext cx="8506567" cy="666427"/>
          </a:xfrm>
        </p:spPr>
        <p:txBody>
          <a:bodyPr anchor="ctr">
            <a:normAutofit/>
          </a:bodyPr>
          <a:lstStyle>
            <a:lvl1pPr algn="r">
              <a:lnSpc>
                <a:spcPct val="90000"/>
              </a:lnSpc>
              <a:defRPr sz="1400" b="0" cap="all" spc="100" baseline="0">
                <a:solidFill>
                  <a:schemeClr val="tx1"/>
                </a:solidFill>
              </a:defRPr>
            </a:lvl1pPr>
          </a:lstStyle>
          <a:p>
            <a:r>
              <a:rPr lang="en-US" dirty="0"/>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pPr marL="0" lvl="0" indent="0" algn="r" rtl="0">
              <a:spcBef>
                <a:spcPts val="0"/>
              </a:spcBef>
              <a:spcAft>
                <a:spcPts val="0"/>
              </a:spcAft>
              <a:buNone/>
            </a:pPr>
            <a:fld id="{00000000-1234-1234-1234-123412341234}" type="slidenum">
              <a:rPr lang="en-US" smtClean="0"/>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866899" y="1856096"/>
            <a:ext cx="8506567" cy="2855388"/>
          </a:xfrm>
        </p:spPr>
        <p:txBody>
          <a:bodyPr anchor="ctr">
            <a:normAutofit/>
          </a:bodyPr>
          <a:lstStyle>
            <a:lvl1pPr marL="164592" indent="-164592">
              <a:lnSpc>
                <a:spcPct val="90000"/>
              </a:lnSpc>
              <a:spcBef>
                <a:spcPts val="0"/>
              </a:spcBef>
              <a:buFont typeface="Arial" panose="020B0604020202020204" pitchFamily="34" charset="0"/>
              <a:buNone/>
              <a:defRPr sz="5000" spc="-50" baseline="0">
                <a:solidFill>
                  <a:schemeClr val="tx1"/>
                </a:solidFill>
              </a:defRPr>
            </a:lvl1pPr>
          </a:lstStyle>
          <a:p>
            <a:pPr lvl="0"/>
            <a:r>
              <a:rPr lang="en-US" dirty="0"/>
              <a:t>Click to add Quote</a:t>
            </a:r>
          </a:p>
        </p:txBody>
      </p:sp>
    </p:spTree>
    <p:extLst>
      <p:ext uri="{BB962C8B-B14F-4D97-AF65-F5344CB8AC3E}">
        <p14:creationId xmlns:p14="http://schemas.microsoft.com/office/powerpoint/2010/main" val="3263465650"/>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8382000" cy="701657"/>
          </a:xfrm>
        </p:spPr>
        <p:txBody>
          <a:bodyPr/>
          <a:lstStyle>
            <a:lvl1pPr>
              <a:defRPr>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pPr marL="0" lvl="0" indent="0" algn="r" rtl="0">
              <a:spcBef>
                <a:spcPts val="0"/>
              </a:spcBef>
              <a:spcAft>
                <a:spcPts val="0"/>
              </a:spcAft>
              <a:buNone/>
            </a:pPr>
            <a:fld id="{00000000-1234-1234-1234-123412341234}" type="slidenum">
              <a:rPr lang="en-US" smtClean="0"/>
              <a:t>‹#›</a:t>
            </a:fld>
            <a:endParaRPr lang="en-US"/>
          </a:p>
        </p:txBody>
      </p:sp>
      <p:sp>
        <p:nvSpPr>
          <p:cNvPr id="4" name="Content Placeholder 3">
            <a:extLst>
              <a:ext uri="{FF2B5EF4-FFF2-40B4-BE49-F238E27FC236}">
                <a16:creationId xmlns:a16="http://schemas.microsoft.com/office/drawing/2014/main" id="{704CA46A-141E-21AB-51BA-BA1F0F395708}"/>
              </a:ext>
            </a:extLst>
          </p:cNvPr>
          <p:cNvSpPr>
            <a:spLocks noGrp="1"/>
          </p:cNvSpPr>
          <p:nvPr>
            <p:ph sz="quarter" idx="15"/>
          </p:nvPr>
        </p:nvSpPr>
        <p:spPr>
          <a:xfrm>
            <a:off x="431800"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F8607D36-7013-02AC-69A9-8D38C5BBA7D0}"/>
              </a:ext>
            </a:extLst>
          </p:cNvPr>
          <p:cNvSpPr>
            <a:spLocks noGrp="1"/>
          </p:cNvSpPr>
          <p:nvPr>
            <p:ph sz="quarter" idx="16"/>
          </p:nvPr>
        </p:nvSpPr>
        <p:spPr>
          <a:xfrm>
            <a:off x="5878824"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5381236"/>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18655" y="932098"/>
            <a:ext cx="10835539" cy="704088"/>
          </a:xfrm>
        </p:spPr>
        <p:txBody>
          <a:bodyPr/>
          <a:lstStyle>
            <a:lvl1pPr>
              <a:defRPr>
                <a:solidFill>
                  <a:schemeClr val="tx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8801100" y="214858"/>
            <a:ext cx="1920240" cy="338328"/>
          </a:xfrm>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pPr marL="0" lvl="0" indent="0" algn="r" rtl="0">
              <a:spcBef>
                <a:spcPts val="0"/>
              </a:spcBef>
              <a:spcAft>
                <a:spcPts val="0"/>
              </a:spcAft>
              <a:buNone/>
            </a:pPr>
            <a:fld id="{00000000-1234-1234-1234-123412341234}" type="slidenum">
              <a:rPr lang="en-US" smtClean="0"/>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18654" y="1675614"/>
            <a:ext cx="4913919"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854769-C5D8-1BF0-C3A2-77216D6255DB}"/>
              </a:ext>
            </a:extLst>
          </p:cNvPr>
          <p:cNvSpPr>
            <a:spLocks noGrp="1"/>
          </p:cNvSpPr>
          <p:nvPr>
            <p:ph sz="quarter" idx="15"/>
          </p:nvPr>
        </p:nvSpPr>
        <p:spPr>
          <a:xfrm>
            <a:off x="431800" y="2285022"/>
            <a:ext cx="4900773"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6500" y="1675614"/>
            <a:ext cx="4967694"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B3527224-4234-3620-766D-DCCA3AFDF896}"/>
              </a:ext>
            </a:extLst>
          </p:cNvPr>
          <p:cNvSpPr>
            <a:spLocks noGrp="1"/>
          </p:cNvSpPr>
          <p:nvPr>
            <p:ph sz="quarter" idx="16"/>
          </p:nvPr>
        </p:nvSpPr>
        <p:spPr>
          <a:xfrm>
            <a:off x="6279401" y="2285022"/>
            <a:ext cx="4982762"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7697032"/>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20791" y="1113510"/>
            <a:ext cx="8380309" cy="876193"/>
          </a:xfrm>
        </p:spPr>
        <p:txBody>
          <a:bodyPr/>
          <a:lstStyle>
            <a:lvl1pPr>
              <a:defRPr>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4501402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01062977"/>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pic>
        <p:nvPicPr>
          <p:cNvPr id="7" name="Picture 6" descr="A red and purple light&#10;&#10;AI-generated content may be incorrect.">
            <a:extLst>
              <a:ext uri="{FF2B5EF4-FFF2-40B4-BE49-F238E27FC236}">
                <a16:creationId xmlns:a16="http://schemas.microsoft.com/office/drawing/2014/main" id="{CC69B319-31FA-514C-5A82-30B4D1B20A23}"/>
              </a:ext>
            </a:extLst>
          </p:cNvPr>
          <p:cNvPicPr>
            <a:picLocks noChangeAspect="1"/>
          </p:cNvPicPr>
          <p:nvPr/>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758952"/>
            <a:ext cx="7609668" cy="1734866"/>
          </a:xfrm>
        </p:spPr>
        <p:txBody>
          <a:bodyPr anchor="t">
            <a:noAutofit/>
          </a:bodyPr>
          <a:lstStyle>
            <a:lvl1pPr>
              <a:defRPr sz="7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pPr marL="0" lvl="0" indent="0" algn="r" rtl="0">
              <a:spcBef>
                <a:spcPts val="0"/>
              </a:spcBef>
              <a:spcAft>
                <a:spcPts val="0"/>
              </a:spcAft>
              <a:buNone/>
            </a:pPr>
            <a:fld id="{00000000-1234-1234-1234-123412341234}" type="slidenum">
              <a:rPr lang="en-US" smtClean="0"/>
              <a:t>‹#›</a:t>
            </a:fld>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100" y="2705101"/>
            <a:ext cx="8801100" cy="2947550"/>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65112222"/>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pic>
        <p:nvPicPr>
          <p:cNvPr id="3" name="Picture 2" descr="A red and purple light&#10;&#10;AI-generated content may be incorrect.">
            <a:extLst>
              <a:ext uri="{FF2B5EF4-FFF2-40B4-BE49-F238E27FC236}">
                <a16:creationId xmlns:a16="http://schemas.microsoft.com/office/drawing/2014/main" id="{86565871-9318-EC0D-5245-A159818CA83F}"/>
              </a:ext>
            </a:extLst>
          </p:cNvPr>
          <p:cNvPicPr>
            <a:picLocks noChangeAspect="1"/>
          </p:cNvPicPr>
          <p:nvPr/>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9" name="Title 8">
            <a:extLst>
              <a:ext uri="{FF2B5EF4-FFF2-40B4-BE49-F238E27FC236}">
                <a16:creationId xmlns:a16="http://schemas.microsoft.com/office/drawing/2014/main" id="{687F1B09-5020-D2DD-189E-7226AD232923}"/>
              </a:ext>
            </a:extLst>
          </p:cNvPr>
          <p:cNvSpPr>
            <a:spLocks noGrp="1"/>
          </p:cNvSpPr>
          <p:nvPr>
            <p:ph type="title"/>
          </p:nvPr>
        </p:nvSpPr>
        <p:spPr>
          <a:xfrm>
            <a:off x="420792" y="2704772"/>
            <a:ext cx="5465660" cy="2733384"/>
          </a:xfrm>
        </p:spPr>
        <p:txBody>
          <a:bodyPr/>
          <a:lstStyle>
            <a:lvl1pPr>
              <a:defRPr sz="72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pPr marL="0" lvl="0" indent="0" algn="r" rtl="0">
              <a:spcBef>
                <a:spcPts val="0"/>
              </a:spcBef>
              <a:spcAft>
                <a:spcPts val="0"/>
              </a:spcAft>
              <a:buNone/>
            </a:pPr>
            <a:fld id="{00000000-1234-1234-1234-123412341234}" type="slidenum">
              <a:rPr lang="en-US" smtClean="0"/>
              <a:t>‹#›</a:t>
            </a:fld>
            <a:endParaRPr lang="en-US"/>
          </a:p>
        </p:txBody>
      </p:sp>
      <p:sp>
        <p:nvSpPr>
          <p:cNvPr id="12" name="Content Placeholder 11">
            <a:extLst>
              <a:ext uri="{FF2B5EF4-FFF2-40B4-BE49-F238E27FC236}">
                <a16:creationId xmlns:a16="http://schemas.microsoft.com/office/drawing/2014/main" id="{8492B719-9068-0A96-E408-4EB3E9F85BE9}"/>
              </a:ext>
            </a:extLst>
          </p:cNvPr>
          <p:cNvSpPr>
            <a:spLocks noGrp="1"/>
          </p:cNvSpPr>
          <p:nvPr>
            <p:ph sz="quarter" idx="15"/>
          </p:nvPr>
        </p:nvSpPr>
        <p:spPr>
          <a:xfrm>
            <a:off x="6305550" y="2705100"/>
            <a:ext cx="4410075" cy="15621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86804222"/>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20791" y="1113510"/>
            <a:ext cx="9942409" cy="876193"/>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29417" y="2133600"/>
            <a:ext cx="9942409" cy="4305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432393" y="214858"/>
            <a:ext cx="2726376" cy="338328"/>
          </a:xfrm>
          <a:prstGeom prst="rect">
            <a:avLst/>
          </a:prstGeom>
        </p:spPr>
        <p:txBody>
          <a:bodyPr vert="horz" lIns="91440" tIns="45720" rIns="91440" bIns="45720" rtlCol="0" anchor="ctr"/>
          <a:lstStyle>
            <a:lvl1pPr algn="l" rtl="0">
              <a:defRPr sz="700" cap="all" baseline="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01100" y="214858"/>
            <a:ext cx="1920240" cy="338328"/>
          </a:xfrm>
          <a:prstGeom prst="rect">
            <a:avLst/>
          </a:prstGeom>
        </p:spPr>
        <p:txBody>
          <a:bodyPr vert="horz" lIns="91440" tIns="45720" rIns="91440" bIns="45720" rtlCol="0" anchor="ctr"/>
          <a:lstStyle>
            <a:lvl1pPr algn="l" rtl="0">
              <a:defRPr sz="700" cap="all"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291657" y="214858"/>
            <a:ext cx="555948" cy="338328"/>
          </a:xfrm>
          <a:prstGeom prst="rect">
            <a:avLst/>
          </a:prstGeom>
        </p:spPr>
        <p:txBody>
          <a:bodyPr vert="horz" lIns="91440" tIns="45720" rIns="91440" bIns="45720" rtlCol="0" anchor="ctr"/>
          <a:lstStyle>
            <a:lvl1pPr algn="r" rtl="0">
              <a:defRPr sz="700" cap="all" baseline="0">
                <a:solidFill>
                  <a:schemeClr val="tx1"/>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819488574"/>
      </p:ext>
    </p:extLst>
  </p:cSld>
  <p:clrMap bg1="dk1" tx1="lt1" bg2="dk2" tx2="lt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764" r:id="rId12"/>
    <p:sldLayoutId id="2147483765" r:id="rId13"/>
    <p:sldLayoutId id="2147483766" r:id="rId14"/>
    <p:sldLayoutId id="2147483767" r:id="rId15"/>
    <p:sldLayoutId id="2147483768" r:id="rId16"/>
    <p:sldLayoutId id="2147483769" r:id="rId17"/>
    <p:sldLayoutId id="2147483770" r:id="rId18"/>
    <p:sldLayoutId id="2147483771" r:id="rId19"/>
    <p:sldLayoutId id="2147483772" r:id="rId20"/>
    <p:sldLayoutId id="2147483773" r:id="rId21"/>
    <p:sldLayoutId id="2147483774" r:id="rId22"/>
    <p:sldLayoutId id="2147483775" r:id="rId23"/>
    <p:sldLayoutId id="2147483776" r:id="rId24"/>
    <p:sldLayoutId id="2147483777" r:id="rId25"/>
    <p:sldLayoutId id="2147483778" r:id="rId26"/>
    <p:sldLayoutId id="2147483779" r:id="rId27"/>
  </p:sldLayoutIdLst>
  <p:hf sldNum="0" hdr="0" ftr="0" dt="0"/>
  <p:txStyles>
    <p:titleStyle>
      <a:lvl1pPr algn="l" defTabSz="914400" rtl="0" eaLnBrk="1" latinLnBrk="0" hangingPunct="1">
        <a:lnSpc>
          <a:spcPct val="85000"/>
        </a:lnSpc>
        <a:spcBef>
          <a:spcPct val="0"/>
        </a:spcBef>
        <a:buNone/>
        <a:defRPr sz="3000" b="0" kern="1200" spc="-11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64">
          <p15:clr>
            <a:srgbClr val="F26B43"/>
          </p15:clr>
        </p15:guide>
        <p15:guide id="4" orient="horz" pos="264">
          <p15:clr>
            <a:srgbClr val="F26B43"/>
          </p15:clr>
        </p15:guide>
        <p15:guide id="5" pos="7416">
          <p15:clr>
            <a:srgbClr val="F26B43"/>
          </p15:clr>
        </p15:guide>
        <p15:guide id="12" pos="4632">
          <p15:clr>
            <a:srgbClr val="F26B43"/>
          </p15:clr>
        </p15:guide>
        <p15:guide id="13" pos="5544">
          <p15:clr>
            <a:srgbClr val="F26B43"/>
          </p15:clr>
        </p15:guide>
        <p15:guide id="26" pos="2784">
          <p15:clr>
            <a:srgbClr val="F26B43"/>
          </p15:clr>
        </p15:guide>
        <p15:guide id="27" pos="3048">
          <p15:clr>
            <a:srgbClr val="F26B43"/>
          </p15:clr>
        </p15:guide>
        <p15:guide id="29" pos="3960">
          <p15:clr>
            <a:srgbClr val="F26B43"/>
          </p15:clr>
        </p15:guide>
        <p15:guide id="30" pos="1176">
          <p15:clr>
            <a:srgbClr val="F26B43"/>
          </p15:clr>
        </p15:guide>
        <p15:guide id="31" pos="912">
          <p15:clr>
            <a:srgbClr val="F26B43"/>
          </p15:clr>
        </p15:guide>
        <p15:guide id="32" pos="3696">
          <p15:clr>
            <a:srgbClr val="F26B43"/>
          </p15:clr>
        </p15:guide>
        <p15:guide id="33" pos="1848">
          <p15:clr>
            <a:srgbClr val="F26B43"/>
          </p15:clr>
        </p15:guide>
        <p15:guide id="34" pos="2112">
          <p15:clr>
            <a:srgbClr val="F26B43"/>
          </p15:clr>
        </p15:guide>
        <p15:guide id="36" pos="6528">
          <p15:clr>
            <a:srgbClr val="F26B43"/>
          </p15:clr>
        </p15:guide>
        <p15:guide id="37" pos="6744">
          <p15:clr>
            <a:srgbClr val="F26B43"/>
          </p15:clr>
        </p15:guide>
        <p15:guide id="42" orient="horz" pos="393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5.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15.png"/><Relationship Id="rId4" Type="http://schemas.openxmlformats.org/officeDocument/2006/relationships/image" Target="../media/image16.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17.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1.xml"/><Relationship Id="rId5" Type="http://schemas.openxmlformats.org/officeDocument/2006/relationships/image" Target="../media/image18.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2.xml"/><Relationship Id="rId5" Type="http://schemas.openxmlformats.org/officeDocument/2006/relationships/image" Target="../media/image19.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3.xml"/><Relationship Id="rId5" Type="http://schemas.openxmlformats.org/officeDocument/2006/relationships/image" Target="../media/image20.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4.xml"/><Relationship Id="rId5" Type="http://schemas.openxmlformats.org/officeDocument/2006/relationships/image" Target="../media/image15.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6.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7.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8.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9.xml"/><Relationship Id="rId6" Type="http://schemas.openxmlformats.org/officeDocument/2006/relationships/image" Target="../media/image15.png"/><Relationship Id="rId5" Type="http://schemas.openxmlformats.org/officeDocument/2006/relationships/hyperlink" Target="https://google.github.io/googletest/primer.html?utm_source=chatgpt.com" TargetMode="External"/><Relationship Id="rId4" Type="http://schemas.openxmlformats.org/officeDocument/2006/relationships/hyperlink" Target="https://cmu-sei.github.io/secure-coding-standards/sei-cert-c-coding-standard/?utm_source=chatgp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dirty="0"/>
              <a:t>Green Pace</a:t>
            </a:r>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pPr>
            <a:r>
              <a:rPr lang="en-US" sz="1850" dirty="0"/>
              <a:t>Security Policy Presentation</a:t>
            </a:r>
            <a:endParaRPr lang="en-US" dirty="0"/>
          </a:p>
          <a:p>
            <a:pPr marL="0" lvl="0" indent="0" algn="l" rtl="0">
              <a:lnSpc>
                <a:spcPct val="70000"/>
              </a:lnSpc>
              <a:spcBef>
                <a:spcPts val="1000"/>
              </a:spcBef>
              <a:spcAft>
                <a:spcPts val="0"/>
              </a:spcAft>
              <a:buClr>
                <a:schemeClr val="lt1"/>
              </a:buClr>
              <a:buSzPts val="1850"/>
              <a:buNone/>
            </a:pPr>
            <a:r>
              <a:rPr lang="en-US" sz="1850" dirty="0"/>
              <a:t>Developer: </a:t>
            </a:r>
            <a:r>
              <a:rPr lang="en-US" sz="1850" i="1" dirty="0"/>
              <a:t>Tyler Hubbell</a:t>
            </a:r>
            <a:endParaRPr lang="en-US" dirty="0"/>
          </a:p>
          <a:p>
            <a:pPr marL="0" lvl="0" indent="0" algn="l" rtl="0">
              <a:lnSpc>
                <a:spcPct val="70000"/>
              </a:lnSpc>
              <a:spcBef>
                <a:spcPts val="1000"/>
              </a:spcBef>
              <a:spcAft>
                <a:spcPts val="0"/>
              </a:spcAft>
              <a:buClr>
                <a:schemeClr val="lt1"/>
              </a:buClr>
              <a:buSzPts val="1850"/>
              <a:buNone/>
            </a:pPr>
            <a:endParaRPr lang="en-US" sz="1850" i="1" dirty="0"/>
          </a:p>
        </p:txBody>
      </p:sp>
      <p:pic>
        <p:nvPicPr>
          <p:cNvPr id="146" name="Google Shape;146;p1" descr="Green Pace logo"/>
          <p:cNvPicPr preferRelativeResize="0"/>
          <p:nvPr/>
        </p:nvPicPr>
        <p:blipFill>
          <a:blip r:embed="rId4">
            <a:alphaModFix/>
          </a:blip>
          <a:stretch>
            <a:fillRect/>
          </a:stretch>
        </p:blipFill>
        <p:spPr>
          <a:xfrm>
            <a:off x="7440774" y="659854"/>
            <a:ext cx="2921424" cy="3786772"/>
          </a:xfrm>
          <a:prstGeom prst="rect">
            <a:avLst/>
          </a:prstGeom>
          <a:noFill/>
          <a:ln>
            <a:noFill/>
          </a:ln>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594211" y="356766"/>
            <a:ext cx="9942409" cy="876193"/>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OVERVIEW: DEFENSE IN DEPTH</a:t>
            </a:r>
            <a:endParaRPr dirty="0"/>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4">
            <a:alphaModFix/>
          </a:blip>
          <a:srcRect/>
          <a:stretch/>
        </p:blipFill>
        <p:spPr>
          <a:xfrm>
            <a:off x="4480142" y="1213823"/>
            <a:ext cx="6374418" cy="4801315"/>
          </a:xfrm>
          <a:prstGeom prst="rect">
            <a:avLst/>
          </a:prstGeom>
          <a:noFill/>
          <a:ln>
            <a:noFill/>
          </a:ln>
        </p:spPr>
      </p:pic>
      <p:pic>
        <p:nvPicPr>
          <p:cNvPr id="154" name="Google Shape;154;p3"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
        <p:nvSpPr>
          <p:cNvPr id="6" name="TextBox 5">
            <a:extLst>
              <a:ext uri="{FF2B5EF4-FFF2-40B4-BE49-F238E27FC236}">
                <a16:creationId xmlns:a16="http://schemas.microsoft.com/office/drawing/2014/main" id="{0F9DDDF5-2D34-CC4C-59E4-D8D64D1E2AB6}"/>
              </a:ext>
            </a:extLst>
          </p:cNvPr>
          <p:cNvSpPr txBox="1"/>
          <p:nvPr/>
        </p:nvSpPr>
        <p:spPr>
          <a:xfrm>
            <a:off x="220717" y="1583137"/>
            <a:ext cx="3838904" cy="4801314"/>
          </a:xfrm>
          <a:prstGeom prst="rect">
            <a:avLst/>
          </a:prstGeom>
          <a:noFill/>
        </p:spPr>
        <p:txBody>
          <a:bodyPr wrap="square" rtlCol="0">
            <a:spAutoFit/>
          </a:bodyPr>
          <a:lstStyle/>
          <a:p>
            <a:pPr marL="285750" indent="-285750">
              <a:buFont typeface="Arial" panose="020B0604020202020204" pitchFamily="34" charset="0"/>
              <a:buChar char="•"/>
            </a:pPr>
            <a:r>
              <a:rPr lang="en-US" dirty="0"/>
              <a:t>Establishes consistent security requirements across software development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Defines secure coding standards, access controls, encryption and testing practices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Integrates security throughout design, development, testing and deployment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Uses defense in depth so multiple security controls protect systems and data if one layer fails</a:t>
            </a: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568474" y="613480"/>
            <a:ext cx="4088524" cy="876193"/>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THREATS MATRIX</a:t>
            </a:r>
            <a:endParaRPr dirty="0"/>
          </a:p>
        </p:txBody>
      </p:sp>
      <p:sp>
        <p:nvSpPr>
          <p:cNvPr id="160" name="Google Shape;160;p4"/>
          <p:cNvSpPr txBox="1">
            <a:spLocks noGrp="1"/>
          </p:cNvSpPr>
          <p:nvPr>
            <p:ph idx="1"/>
          </p:nvPr>
        </p:nvSpPr>
        <p:spPr>
          <a:xfrm>
            <a:off x="568474" y="6244904"/>
            <a:ext cx="10515600" cy="485588"/>
          </a:xfrm>
          <a:prstGeom prst="rect">
            <a:avLst/>
          </a:prstGeom>
          <a:noFill/>
          <a:ln>
            <a:noFill/>
          </a:ln>
        </p:spPr>
        <p:txBody>
          <a:bodyPr spcFirstLastPara="1" wrap="square" lIns="91425" tIns="45700" rIns="91425" bIns="45700" anchor="t" anchorCtr="0">
            <a:normAutofit/>
          </a:bodyPr>
          <a:lstStyle/>
          <a:p>
            <a:pPr marL="228600" lvl="0">
              <a:lnSpc>
                <a:spcPct val="107916"/>
              </a:lnSpc>
              <a:spcBef>
                <a:spcPts val="0"/>
              </a:spcBef>
              <a:buSzPts val="1800"/>
            </a:pPr>
            <a:r>
              <a:rPr lang="en-US" sz="2000" dirty="0"/>
              <a:t>*</a:t>
            </a:r>
            <a:r>
              <a:rPr lang="en-US" sz="2000" i="1" dirty="0"/>
              <a:t>Risks are categorized by severity, likelihood, remediation cost and overall priority</a:t>
            </a:r>
            <a:r>
              <a:rPr lang="en-US" sz="2000" dirty="0"/>
              <a:t>.*</a:t>
            </a:r>
            <a:endParaRPr dirty="0"/>
          </a:p>
        </p:txBody>
      </p:sp>
      <p:graphicFrame>
        <p:nvGraphicFramePr>
          <p:cNvPr id="161" name="Google Shape;161;p4" descr="Alt text required"/>
          <p:cNvGraphicFramePr/>
          <p:nvPr>
            <p:extLst>
              <p:ext uri="{D42A27DB-BD31-4B8C-83A1-F6EECF244321}">
                <p14:modId xmlns:p14="http://schemas.microsoft.com/office/powerpoint/2010/main" val="779401326"/>
              </p:ext>
            </p:extLst>
          </p:nvPr>
        </p:nvGraphicFramePr>
        <p:xfrm>
          <a:off x="728396" y="1626624"/>
          <a:ext cx="10266146" cy="4481329"/>
        </p:xfrm>
        <a:graphic>
          <a:graphicData uri="http://schemas.openxmlformats.org/drawingml/2006/table">
            <a:tbl>
              <a:tblPr firstRow="1" firstCol="1">
                <a:noFill/>
                <a:tableStyleId>{802198C4-3087-4945-87E3-76CBB3509B7E}</a:tableStyleId>
              </a:tblPr>
              <a:tblGrid>
                <a:gridCol w="5280886">
                  <a:extLst>
                    <a:ext uri="{9D8B030D-6E8A-4147-A177-3AD203B41FA5}">
                      <a16:colId xmlns:a16="http://schemas.microsoft.com/office/drawing/2014/main" val="20000"/>
                    </a:ext>
                  </a:extLst>
                </a:gridCol>
                <a:gridCol w="4985260">
                  <a:extLst>
                    <a:ext uri="{9D8B030D-6E8A-4147-A177-3AD203B41FA5}">
                      <a16:colId xmlns:a16="http://schemas.microsoft.com/office/drawing/2014/main" val="20001"/>
                    </a:ext>
                  </a:extLst>
                </a:gridCol>
              </a:tblGrid>
              <a:tr h="2103919">
                <a:tc>
                  <a:txBody>
                    <a:bodyPr/>
                    <a:lstStyle/>
                    <a:p>
                      <a:pPr marL="0" marR="0" lvl="0" indent="0" algn="ctr" rtl="0">
                        <a:lnSpc>
                          <a:spcPct val="100000"/>
                        </a:lnSpc>
                        <a:spcBef>
                          <a:spcPts val="0"/>
                        </a:spcBef>
                        <a:spcAft>
                          <a:spcPts val="0"/>
                        </a:spcAft>
                        <a:buClr>
                          <a:srgbClr val="000000"/>
                        </a:buClr>
                        <a:buSzPts val="3600"/>
                        <a:buFont typeface="Arial"/>
                        <a:buNone/>
                      </a:pPr>
                      <a:r>
                        <a:rPr lang="en-US" sz="1800" b="1" dirty="0">
                          <a:solidFill>
                            <a:schemeClr val="tx2"/>
                          </a:solidFill>
                        </a:rPr>
                        <a:t>STD-003-CPP</a:t>
                      </a:r>
                      <a:r>
                        <a:rPr lang="en-US" sz="1800" dirty="0">
                          <a:solidFill>
                            <a:schemeClr val="tx2"/>
                          </a:solidFill>
                        </a:rPr>
                        <a:t> - Use Safe String Handling Practices</a:t>
                      </a:r>
                    </a:p>
                    <a:p>
                      <a:pPr marL="0" marR="0" lvl="0" indent="0" algn="ctr" rtl="0">
                        <a:lnSpc>
                          <a:spcPct val="100000"/>
                        </a:lnSpc>
                        <a:spcBef>
                          <a:spcPts val="0"/>
                        </a:spcBef>
                        <a:spcAft>
                          <a:spcPts val="0"/>
                        </a:spcAft>
                        <a:buClr>
                          <a:srgbClr val="000000"/>
                        </a:buClr>
                        <a:buSzPts val="3600"/>
                        <a:buFont typeface="Arial"/>
                        <a:buNone/>
                      </a:pPr>
                      <a:endParaRPr lang="en-US" sz="1800" dirty="0">
                        <a:solidFill>
                          <a:schemeClr val="tx2"/>
                        </a:solidFill>
                      </a:endParaRPr>
                    </a:p>
                    <a:p>
                      <a:pPr marL="0" marR="0" lvl="0" indent="0" algn="ctr" rtl="0">
                        <a:lnSpc>
                          <a:spcPct val="100000"/>
                        </a:lnSpc>
                        <a:spcBef>
                          <a:spcPts val="0"/>
                        </a:spcBef>
                        <a:spcAft>
                          <a:spcPts val="0"/>
                        </a:spcAft>
                        <a:buClr>
                          <a:srgbClr val="000000"/>
                        </a:buClr>
                        <a:buSzPts val="3600"/>
                        <a:buFont typeface="Arial"/>
                        <a:buNone/>
                      </a:pPr>
                      <a:r>
                        <a:rPr lang="en-US" b="1" dirty="0">
                          <a:solidFill>
                            <a:schemeClr val="tx2"/>
                          </a:solidFill>
                        </a:rPr>
                        <a:t>STD-004-CPP</a:t>
                      </a:r>
                      <a:r>
                        <a:rPr lang="en-US" dirty="0">
                          <a:solidFill>
                            <a:schemeClr val="tx2"/>
                          </a:solidFill>
                        </a:rPr>
                        <a:t> - Prevent SQL Injection Attacks</a:t>
                      </a:r>
                    </a:p>
                    <a:p>
                      <a:pPr marL="0" marR="0" lvl="0" indent="0" algn="ctr" rtl="0">
                        <a:lnSpc>
                          <a:spcPct val="100000"/>
                        </a:lnSpc>
                        <a:spcBef>
                          <a:spcPts val="0"/>
                        </a:spcBef>
                        <a:spcAft>
                          <a:spcPts val="0"/>
                        </a:spcAft>
                        <a:buClr>
                          <a:srgbClr val="000000"/>
                        </a:buClr>
                        <a:buSzPts val="3600"/>
                        <a:buFont typeface="Arial"/>
                        <a:buNone/>
                      </a:pPr>
                      <a:endParaRPr lang="en-US" dirty="0">
                        <a:solidFill>
                          <a:schemeClr val="tx2"/>
                        </a:solidFill>
                      </a:endParaRPr>
                    </a:p>
                    <a:p>
                      <a:pPr marL="0" marR="0" lvl="0" indent="0" algn="ctr" rtl="0">
                        <a:lnSpc>
                          <a:spcPct val="100000"/>
                        </a:lnSpc>
                        <a:spcBef>
                          <a:spcPts val="0"/>
                        </a:spcBef>
                        <a:spcAft>
                          <a:spcPts val="0"/>
                        </a:spcAft>
                        <a:buClr>
                          <a:srgbClr val="000000"/>
                        </a:buClr>
                        <a:buSzPts val="3600"/>
                        <a:buFont typeface="Arial"/>
                        <a:buNone/>
                      </a:pPr>
                      <a:r>
                        <a:rPr lang="en-US" b="1" dirty="0">
                          <a:solidFill>
                            <a:schemeClr val="tx2"/>
                          </a:solidFill>
                        </a:rPr>
                        <a:t>STD-007-CPP</a:t>
                      </a:r>
                      <a:r>
                        <a:rPr lang="en-US" dirty="0">
                          <a:solidFill>
                            <a:schemeClr val="tx2"/>
                          </a:solidFill>
                        </a:rPr>
                        <a:t> - Handle Exceptions Properly</a:t>
                      </a:r>
                    </a:p>
                    <a:p>
                      <a:pPr marL="0" marR="0" lvl="0" indent="0" algn="ctr" rtl="0">
                        <a:lnSpc>
                          <a:spcPct val="100000"/>
                        </a:lnSpc>
                        <a:spcBef>
                          <a:spcPts val="0"/>
                        </a:spcBef>
                        <a:spcAft>
                          <a:spcPts val="0"/>
                        </a:spcAft>
                        <a:buClr>
                          <a:srgbClr val="000000"/>
                        </a:buClr>
                        <a:buSzPts val="3600"/>
                        <a:buFont typeface="Arial"/>
                        <a:buNone/>
                      </a:pPr>
                      <a:endParaRPr lang="en-US" dirty="0">
                        <a:solidFill>
                          <a:schemeClr val="tx2"/>
                        </a:solidFill>
                      </a:endParaRPr>
                    </a:p>
                    <a:p>
                      <a:pPr marL="0" marR="0" lvl="0" indent="0" algn="ctr" rtl="0">
                        <a:lnSpc>
                          <a:spcPct val="100000"/>
                        </a:lnSpc>
                        <a:spcBef>
                          <a:spcPts val="0"/>
                        </a:spcBef>
                        <a:spcAft>
                          <a:spcPts val="0"/>
                        </a:spcAft>
                        <a:buClr>
                          <a:srgbClr val="000000"/>
                        </a:buClr>
                        <a:buSzPts val="3600"/>
                        <a:buFont typeface="Arial"/>
                        <a:buNone/>
                      </a:pPr>
                      <a:r>
                        <a:rPr lang="en-US" b="1" dirty="0">
                          <a:solidFill>
                            <a:schemeClr val="tx1"/>
                          </a:solidFill>
                        </a:rPr>
                        <a:t>STD-008-CPP</a:t>
                      </a:r>
                      <a:r>
                        <a:rPr lang="en-US" dirty="0">
                          <a:solidFill>
                            <a:schemeClr val="tx1"/>
                          </a:solidFill>
                        </a:rPr>
                        <a:t> - Use Appropriate Object Lifetimes</a:t>
                      </a:r>
                      <a:endParaRPr sz="1800" u="none" strike="noStrike" cap="none" dirty="0">
                        <a:solidFill>
                          <a:schemeClr val="tx1"/>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1800" b="1" dirty="0">
                          <a:solidFill>
                            <a:schemeClr val="tx2"/>
                          </a:solidFill>
                        </a:rPr>
                        <a:t>STD-001-CPP</a:t>
                      </a:r>
                      <a:r>
                        <a:rPr lang="en-US" sz="1800" dirty="0">
                          <a:solidFill>
                            <a:schemeClr val="tx2"/>
                          </a:solidFill>
                        </a:rPr>
                        <a:t> - Use Appropriate Data Types</a:t>
                      </a:r>
                    </a:p>
                    <a:p>
                      <a:pPr marL="0" marR="0" lvl="0" indent="0" algn="ctr" rtl="0">
                        <a:lnSpc>
                          <a:spcPct val="100000"/>
                        </a:lnSpc>
                        <a:spcBef>
                          <a:spcPts val="0"/>
                        </a:spcBef>
                        <a:spcAft>
                          <a:spcPts val="0"/>
                        </a:spcAft>
                        <a:buClr>
                          <a:srgbClr val="000000"/>
                        </a:buClr>
                        <a:buSzPts val="3600"/>
                        <a:buFont typeface="Arial"/>
                        <a:buNone/>
                      </a:pPr>
                      <a:endParaRPr lang="en-US" sz="1800" dirty="0">
                        <a:solidFill>
                          <a:schemeClr val="tx2"/>
                        </a:solidFill>
                      </a:endParaRPr>
                    </a:p>
                    <a:p>
                      <a:pPr marL="0" marR="0" lvl="0" indent="0" algn="ctr" rtl="0">
                        <a:lnSpc>
                          <a:spcPct val="100000"/>
                        </a:lnSpc>
                        <a:spcBef>
                          <a:spcPts val="0"/>
                        </a:spcBef>
                        <a:spcAft>
                          <a:spcPts val="0"/>
                        </a:spcAft>
                        <a:buClr>
                          <a:srgbClr val="000000"/>
                        </a:buClr>
                        <a:buSzPts val="3600"/>
                        <a:buFont typeface="Arial"/>
                        <a:buNone/>
                      </a:pPr>
                      <a:r>
                        <a:rPr lang="en-US" b="1" dirty="0">
                          <a:solidFill>
                            <a:schemeClr val="tx2"/>
                          </a:solidFill>
                        </a:rPr>
                        <a:t>STD-002-CPP</a:t>
                      </a:r>
                      <a:r>
                        <a:rPr lang="en-US" dirty="0">
                          <a:solidFill>
                            <a:schemeClr val="tx2"/>
                          </a:solidFill>
                        </a:rPr>
                        <a:t> - Validate Data Values</a:t>
                      </a:r>
                    </a:p>
                    <a:p>
                      <a:pPr marL="0" marR="0" lvl="0" indent="0" algn="ctr" rtl="0">
                        <a:lnSpc>
                          <a:spcPct val="100000"/>
                        </a:lnSpc>
                        <a:spcBef>
                          <a:spcPts val="0"/>
                        </a:spcBef>
                        <a:spcAft>
                          <a:spcPts val="0"/>
                        </a:spcAft>
                        <a:buClr>
                          <a:srgbClr val="000000"/>
                        </a:buClr>
                        <a:buSzPts val="3600"/>
                        <a:buFont typeface="Arial"/>
                        <a:buNone/>
                      </a:pPr>
                      <a:endParaRPr lang="en-US" dirty="0">
                        <a:solidFill>
                          <a:schemeClr val="tx2"/>
                        </a:solidFill>
                      </a:endParaRPr>
                    </a:p>
                    <a:p>
                      <a:pPr marL="0" marR="0" lvl="0" indent="0" algn="ctr" rtl="0">
                        <a:lnSpc>
                          <a:spcPct val="100000"/>
                        </a:lnSpc>
                        <a:spcBef>
                          <a:spcPts val="0"/>
                        </a:spcBef>
                        <a:spcAft>
                          <a:spcPts val="0"/>
                        </a:spcAft>
                        <a:buClr>
                          <a:srgbClr val="000000"/>
                        </a:buClr>
                        <a:buSzPts val="3600"/>
                        <a:buFont typeface="Arial"/>
                        <a:buNone/>
                      </a:pPr>
                      <a:r>
                        <a:rPr lang="en-US" b="1" dirty="0">
                          <a:solidFill>
                            <a:schemeClr val="tx2"/>
                          </a:solidFill>
                        </a:rPr>
                        <a:t>STD-005-CPP</a:t>
                      </a:r>
                      <a:r>
                        <a:rPr lang="en-US" dirty="0">
                          <a:solidFill>
                            <a:schemeClr val="tx2"/>
                          </a:solidFill>
                        </a:rPr>
                        <a:t> - Protect Dynamically Allocated Memory</a:t>
                      </a:r>
                      <a:endParaRPr sz="1800" u="none" strike="noStrike" cap="none" dirty="0">
                        <a:solidFill>
                          <a:schemeClr val="tx2"/>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r h="2103919">
                <a:tc>
                  <a:txBody>
                    <a:bodyPr/>
                    <a:lstStyle/>
                    <a:p>
                      <a:pPr marL="0" marR="0" lvl="0" indent="0" algn="ctr" rtl="0">
                        <a:lnSpc>
                          <a:spcPct val="100000"/>
                        </a:lnSpc>
                        <a:spcBef>
                          <a:spcPts val="0"/>
                        </a:spcBef>
                        <a:spcAft>
                          <a:spcPts val="0"/>
                        </a:spcAft>
                        <a:buClr>
                          <a:srgbClr val="000000"/>
                        </a:buClr>
                        <a:buSzPts val="3600"/>
                        <a:buFont typeface="Arial"/>
                        <a:buNone/>
                      </a:pPr>
                      <a:r>
                        <a:rPr lang="en-US" sz="1800" b="1" dirty="0">
                          <a:solidFill>
                            <a:schemeClr val="tx2"/>
                          </a:solidFill>
                        </a:rPr>
                        <a:t>STD-009-CPP</a:t>
                      </a:r>
                      <a:r>
                        <a:rPr lang="en-US" sz="1800" dirty="0">
                          <a:solidFill>
                            <a:schemeClr val="tx2"/>
                          </a:solidFill>
                        </a:rPr>
                        <a:t> - Do Not Slice Derived Objects</a:t>
                      </a:r>
                    </a:p>
                    <a:p>
                      <a:pPr marL="0" marR="0" lvl="0" indent="0" algn="ctr" rtl="0">
                        <a:lnSpc>
                          <a:spcPct val="100000"/>
                        </a:lnSpc>
                        <a:spcBef>
                          <a:spcPts val="0"/>
                        </a:spcBef>
                        <a:spcAft>
                          <a:spcPts val="0"/>
                        </a:spcAft>
                        <a:buClr>
                          <a:srgbClr val="000000"/>
                        </a:buClr>
                        <a:buSzPts val="3600"/>
                        <a:buFont typeface="Arial"/>
                        <a:buNone/>
                      </a:pPr>
                      <a:endParaRPr lang="en-US" sz="1800" dirty="0">
                        <a:solidFill>
                          <a:schemeClr val="tx2"/>
                        </a:solidFill>
                      </a:endParaRPr>
                    </a:p>
                    <a:p>
                      <a:pPr marL="0" marR="0" lvl="0" indent="0" algn="ctr" rtl="0">
                        <a:lnSpc>
                          <a:spcPct val="100000"/>
                        </a:lnSpc>
                        <a:spcBef>
                          <a:spcPts val="0"/>
                        </a:spcBef>
                        <a:spcAft>
                          <a:spcPts val="0"/>
                        </a:spcAft>
                        <a:buClr>
                          <a:srgbClr val="000000"/>
                        </a:buClr>
                        <a:buSzPts val="3600"/>
                        <a:buFont typeface="Arial"/>
                        <a:buNone/>
                      </a:pPr>
                      <a:r>
                        <a:rPr lang="en-US" b="1" dirty="0">
                          <a:solidFill>
                            <a:schemeClr val="tx2"/>
                          </a:solidFill>
                        </a:rPr>
                        <a:t>STD-010-CPP</a:t>
                      </a:r>
                      <a:r>
                        <a:rPr lang="en-US" dirty="0">
                          <a:solidFill>
                            <a:schemeClr val="tx2"/>
                          </a:solidFill>
                        </a:rPr>
                        <a:t> - Fail </a:t>
                      </a:r>
                      <a:r>
                        <a:rPr lang="en-US" sz="1800" b="0" i="0" kern="1200" dirty="0">
                          <a:solidFill>
                            <a:schemeClr val="tx2"/>
                          </a:solidFill>
                          <a:latin typeface="Arial"/>
                          <a:cs typeface="Arial"/>
                        </a:rPr>
                        <a:t>Gracefully</a:t>
                      </a:r>
                      <a:r>
                        <a:rPr lang="en-US" dirty="0">
                          <a:solidFill>
                            <a:schemeClr val="tx2"/>
                          </a:solidFill>
                        </a:rPr>
                        <a:t> and Log Errors</a:t>
                      </a:r>
                      <a:endParaRPr sz="1800" u="none" strike="noStrike" cap="none" dirty="0">
                        <a:solidFill>
                          <a:schemeClr val="tx2"/>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1800" b="1" dirty="0">
                          <a:solidFill>
                            <a:schemeClr val="tx2"/>
                          </a:solidFill>
                        </a:rPr>
                        <a:t>STD-006-CPP</a:t>
                      </a:r>
                      <a:r>
                        <a:rPr lang="en-US" sz="1800" dirty="0">
                          <a:solidFill>
                            <a:schemeClr val="tx2"/>
                          </a:solidFill>
                        </a:rPr>
                        <a:t> - Use Assertions to Verify Program Assumptions</a:t>
                      </a:r>
                      <a:endParaRPr sz="1800" u="none" strike="noStrike" cap="none" dirty="0">
                        <a:solidFill>
                          <a:schemeClr val="tx2"/>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chemeClr val="bg1"/>
                    </a:solid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515384" y="561717"/>
            <a:ext cx="9942409" cy="876193"/>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10 PRINCIPLES</a:t>
            </a:r>
            <a:endParaRPr dirty="0"/>
          </a:p>
        </p:txBody>
      </p:sp>
      <p:graphicFrame>
        <p:nvGraphicFramePr>
          <p:cNvPr id="2" name="Content Placeholder 1">
            <a:extLst>
              <a:ext uri="{FF2B5EF4-FFF2-40B4-BE49-F238E27FC236}">
                <a16:creationId xmlns:a16="http://schemas.microsoft.com/office/drawing/2014/main" id="{18FBD38D-63CC-44CB-613C-3C35B0A9300F}"/>
              </a:ext>
            </a:extLst>
          </p:cNvPr>
          <p:cNvGraphicFramePr>
            <a:graphicFrameLocks noGrp="1"/>
          </p:cNvGraphicFramePr>
          <p:nvPr>
            <p:ph idx="1"/>
            <p:extLst>
              <p:ext uri="{D42A27DB-BD31-4B8C-83A1-F6EECF244321}">
                <p14:modId xmlns:p14="http://schemas.microsoft.com/office/powerpoint/2010/main" val="3131922625"/>
              </p:ext>
            </p:extLst>
          </p:nvPr>
        </p:nvGraphicFramePr>
        <p:xfrm>
          <a:off x="578397" y="1615966"/>
          <a:ext cx="9942512" cy="4884332"/>
        </p:xfrm>
        <a:graphic>
          <a:graphicData uri="http://schemas.openxmlformats.org/drawingml/2006/table">
            <a:tbl>
              <a:tblPr firstRow="1" bandRow="1">
                <a:tableStyleId>{802198C4-3087-4945-87E3-76CBB3509B7E}</a:tableStyleId>
              </a:tblPr>
              <a:tblGrid>
                <a:gridCol w="4971256">
                  <a:extLst>
                    <a:ext uri="{9D8B030D-6E8A-4147-A177-3AD203B41FA5}">
                      <a16:colId xmlns:a16="http://schemas.microsoft.com/office/drawing/2014/main" val="1559163987"/>
                    </a:ext>
                  </a:extLst>
                </a:gridCol>
                <a:gridCol w="4971256">
                  <a:extLst>
                    <a:ext uri="{9D8B030D-6E8A-4147-A177-3AD203B41FA5}">
                      <a16:colId xmlns:a16="http://schemas.microsoft.com/office/drawing/2014/main" val="543123451"/>
                    </a:ext>
                  </a:extLst>
                </a:gridCol>
              </a:tblGrid>
              <a:tr h="368212">
                <a:tc>
                  <a:txBody>
                    <a:bodyPr/>
                    <a:lstStyle/>
                    <a:p>
                      <a:pPr algn="ctr"/>
                      <a:r>
                        <a:rPr lang="en-US" dirty="0">
                          <a:solidFill>
                            <a:schemeClr val="tx1"/>
                          </a:solidFill>
                        </a:rPr>
                        <a:t>Principles</a:t>
                      </a:r>
                    </a:p>
                  </a:txBody>
                  <a:tcPr/>
                </a:tc>
                <a:tc>
                  <a:txBody>
                    <a:bodyPr/>
                    <a:lstStyle/>
                    <a:p>
                      <a:pPr algn="ctr"/>
                      <a:r>
                        <a:rPr lang="en-US" dirty="0">
                          <a:solidFill>
                            <a:schemeClr val="tx1"/>
                          </a:solidFill>
                        </a:rPr>
                        <a:t>Coding Standard Reference</a:t>
                      </a:r>
                    </a:p>
                  </a:txBody>
                  <a:tcPr/>
                </a:tc>
                <a:extLst>
                  <a:ext uri="{0D108BD9-81ED-4DB2-BD59-A6C34878D82A}">
                    <a16:rowId xmlns:a16="http://schemas.microsoft.com/office/drawing/2014/main" val="1845252003"/>
                  </a:ext>
                </a:extLst>
              </a:tr>
              <a:tr h="370840">
                <a:tc>
                  <a:txBody>
                    <a:bodyPr/>
                    <a:lstStyle/>
                    <a:p>
                      <a:r>
                        <a:rPr lang="en-US" dirty="0">
                          <a:solidFill>
                            <a:schemeClr val="tx2"/>
                          </a:solidFill>
                        </a:rPr>
                        <a:t>1. Validate Input Data</a:t>
                      </a:r>
                    </a:p>
                  </a:txBody>
                  <a:tcPr/>
                </a:tc>
                <a:tc>
                  <a:txBody>
                    <a:bodyPr/>
                    <a:lstStyle/>
                    <a:p>
                      <a:r>
                        <a:rPr lang="en-US" dirty="0">
                          <a:solidFill>
                            <a:schemeClr val="tx2"/>
                          </a:solidFill>
                        </a:rPr>
                        <a:t>STD-001-CPP, STD-002-CPP, STD-003-CPP, STD-004-CPP</a:t>
                      </a:r>
                    </a:p>
                  </a:txBody>
                  <a:tcPr/>
                </a:tc>
                <a:extLst>
                  <a:ext uri="{0D108BD9-81ED-4DB2-BD59-A6C34878D82A}">
                    <a16:rowId xmlns:a16="http://schemas.microsoft.com/office/drawing/2014/main" val="4144117092"/>
                  </a:ext>
                </a:extLst>
              </a:tr>
              <a:tr h="370840">
                <a:tc>
                  <a:txBody>
                    <a:bodyPr/>
                    <a:lstStyle/>
                    <a:p>
                      <a:r>
                        <a:rPr lang="en-US" dirty="0">
                          <a:solidFill>
                            <a:schemeClr val="tx2"/>
                          </a:solidFill>
                        </a:rPr>
                        <a:t>2. Heed Compiler Warnings</a:t>
                      </a:r>
                    </a:p>
                  </a:txBody>
                  <a:tcPr/>
                </a:tc>
                <a:tc>
                  <a:txBody>
                    <a:bodyPr/>
                    <a:lstStyle/>
                    <a:p>
                      <a:r>
                        <a:rPr lang="en-US" dirty="0">
                          <a:solidFill>
                            <a:schemeClr val="tx2"/>
                          </a:solidFill>
                        </a:rPr>
                        <a:t>STD-001-CPP, STD-002-CPP</a:t>
                      </a:r>
                      <a:br>
                        <a:rPr lang="en-US" dirty="0">
                          <a:solidFill>
                            <a:schemeClr val="tx2"/>
                          </a:solidFill>
                        </a:rPr>
                      </a:br>
                      <a:endParaRPr lang="en-US" dirty="0">
                        <a:solidFill>
                          <a:schemeClr val="tx2"/>
                        </a:solidFill>
                      </a:endParaRPr>
                    </a:p>
                  </a:txBody>
                  <a:tcPr/>
                </a:tc>
                <a:extLst>
                  <a:ext uri="{0D108BD9-81ED-4DB2-BD59-A6C34878D82A}">
                    <a16:rowId xmlns:a16="http://schemas.microsoft.com/office/drawing/2014/main" val="859809971"/>
                  </a:ext>
                </a:extLst>
              </a:tr>
              <a:tr h="370840">
                <a:tc>
                  <a:txBody>
                    <a:bodyPr/>
                    <a:lstStyle/>
                    <a:p>
                      <a:r>
                        <a:rPr lang="en-US" dirty="0">
                          <a:solidFill>
                            <a:schemeClr val="tx2"/>
                          </a:solidFill>
                        </a:rPr>
                        <a:t>3. Architect and Design for Security Policies</a:t>
                      </a:r>
                    </a:p>
                  </a:txBody>
                  <a:tcPr/>
                </a:tc>
                <a:tc>
                  <a:txBody>
                    <a:bodyPr/>
                    <a:lstStyle/>
                    <a:p>
                      <a:r>
                        <a:rPr lang="en-US" dirty="0">
                          <a:solidFill>
                            <a:schemeClr val="tx2"/>
                          </a:solidFill>
                        </a:rPr>
                        <a:t>STD-005-CPP, STD-006-CPP, STD-007-CPP, STD-008-CPP, STD-009-CPP, STD-010-CPP</a:t>
                      </a:r>
                    </a:p>
                  </a:txBody>
                  <a:tcPr/>
                </a:tc>
                <a:extLst>
                  <a:ext uri="{0D108BD9-81ED-4DB2-BD59-A6C34878D82A}">
                    <a16:rowId xmlns:a16="http://schemas.microsoft.com/office/drawing/2014/main" val="152552382"/>
                  </a:ext>
                </a:extLst>
              </a:tr>
              <a:tr h="370840">
                <a:tc>
                  <a:txBody>
                    <a:bodyPr/>
                    <a:lstStyle/>
                    <a:p>
                      <a:r>
                        <a:rPr lang="en-US" dirty="0">
                          <a:solidFill>
                            <a:schemeClr val="tx2"/>
                          </a:solidFill>
                        </a:rPr>
                        <a:t>4. Keep It Simple</a:t>
                      </a:r>
                    </a:p>
                  </a:txBody>
                  <a:tcPr/>
                </a:tc>
                <a:tc>
                  <a:txBody>
                    <a:bodyPr/>
                    <a:lstStyle/>
                    <a:p>
                      <a:r>
                        <a:rPr lang="en-US" dirty="0">
                          <a:solidFill>
                            <a:schemeClr val="tx2"/>
                          </a:solidFill>
                        </a:rPr>
                        <a:t>STD-007-CPP, STD-009-CPP</a:t>
                      </a:r>
                    </a:p>
                  </a:txBody>
                  <a:tcPr/>
                </a:tc>
                <a:extLst>
                  <a:ext uri="{0D108BD9-81ED-4DB2-BD59-A6C34878D82A}">
                    <a16:rowId xmlns:a16="http://schemas.microsoft.com/office/drawing/2014/main" val="1413486121"/>
                  </a:ext>
                </a:extLst>
              </a:tr>
              <a:tr h="370840">
                <a:tc>
                  <a:txBody>
                    <a:bodyPr/>
                    <a:lstStyle/>
                    <a:p>
                      <a:r>
                        <a:rPr lang="en-US" dirty="0">
                          <a:solidFill>
                            <a:schemeClr val="tx2"/>
                          </a:solidFill>
                        </a:rPr>
                        <a:t>5. Default Deny</a:t>
                      </a:r>
                    </a:p>
                  </a:txBody>
                  <a:tcPr/>
                </a:tc>
                <a:tc>
                  <a:txBody>
                    <a:bodyPr/>
                    <a:lstStyle/>
                    <a:p>
                      <a:pPr>
                        <a:buNone/>
                      </a:pPr>
                      <a:r>
                        <a:rPr lang="en-US" dirty="0">
                          <a:solidFill>
                            <a:schemeClr val="tx2"/>
                          </a:solidFill>
                        </a:rPr>
                        <a:t>STD-004-CPP</a:t>
                      </a:r>
                    </a:p>
                  </a:txBody>
                  <a:tcPr anchor="ctr"/>
                </a:tc>
                <a:extLst>
                  <a:ext uri="{0D108BD9-81ED-4DB2-BD59-A6C34878D82A}">
                    <a16:rowId xmlns:a16="http://schemas.microsoft.com/office/drawing/2014/main" val="1607086886"/>
                  </a:ext>
                </a:extLst>
              </a:tr>
              <a:tr h="370840">
                <a:tc>
                  <a:txBody>
                    <a:bodyPr/>
                    <a:lstStyle/>
                    <a:p>
                      <a:r>
                        <a:rPr lang="en-US" b="0" dirty="0">
                          <a:solidFill>
                            <a:schemeClr val="tx2"/>
                          </a:solidFill>
                        </a:rPr>
                        <a:t>6. Adhere to the Principle of Least Privilege</a:t>
                      </a:r>
                    </a:p>
                  </a:txBody>
                  <a:tcPr/>
                </a:tc>
                <a:tc>
                  <a:txBody>
                    <a:bodyPr/>
                    <a:lstStyle/>
                    <a:p>
                      <a:r>
                        <a:rPr lang="en-US" dirty="0">
                          <a:solidFill>
                            <a:schemeClr val="tx2"/>
                          </a:solidFill>
                        </a:rPr>
                        <a:t>STD-004-CPP</a:t>
                      </a:r>
                      <a:endParaRPr lang="en-US" b="0" dirty="0">
                        <a:solidFill>
                          <a:schemeClr val="tx2"/>
                        </a:solidFill>
                      </a:endParaRPr>
                    </a:p>
                  </a:txBody>
                  <a:tcPr/>
                </a:tc>
                <a:extLst>
                  <a:ext uri="{0D108BD9-81ED-4DB2-BD59-A6C34878D82A}">
                    <a16:rowId xmlns:a16="http://schemas.microsoft.com/office/drawing/2014/main" val="2370542371"/>
                  </a:ext>
                </a:extLst>
              </a:tr>
              <a:tr h="370840">
                <a:tc>
                  <a:txBody>
                    <a:bodyPr/>
                    <a:lstStyle/>
                    <a:p>
                      <a:r>
                        <a:rPr lang="en-US" b="0" dirty="0">
                          <a:solidFill>
                            <a:schemeClr val="tx2"/>
                          </a:solidFill>
                        </a:rPr>
                        <a:t>7. Sanitize Data Sent to Other Systems</a:t>
                      </a:r>
                    </a:p>
                  </a:txBody>
                  <a:tcPr/>
                </a:tc>
                <a:tc>
                  <a:txBody>
                    <a:bodyPr/>
                    <a:lstStyle/>
                    <a:p>
                      <a:r>
                        <a:rPr lang="en-US" b="0" dirty="0">
                          <a:solidFill>
                            <a:schemeClr val="tx2"/>
                          </a:solidFill>
                        </a:rPr>
                        <a:t>STD-003-CPP, STD-004-CPP</a:t>
                      </a:r>
                    </a:p>
                  </a:txBody>
                  <a:tcPr/>
                </a:tc>
                <a:extLst>
                  <a:ext uri="{0D108BD9-81ED-4DB2-BD59-A6C34878D82A}">
                    <a16:rowId xmlns:a16="http://schemas.microsoft.com/office/drawing/2014/main" val="1847842166"/>
                  </a:ext>
                </a:extLst>
              </a:tr>
              <a:tr h="370840">
                <a:tc>
                  <a:txBody>
                    <a:bodyPr/>
                    <a:lstStyle/>
                    <a:p>
                      <a:r>
                        <a:rPr lang="en-US" b="0" dirty="0">
                          <a:solidFill>
                            <a:schemeClr val="tx2"/>
                          </a:solidFill>
                        </a:rPr>
                        <a:t>8. Practice Defense in Depth</a:t>
                      </a:r>
                    </a:p>
                  </a:txBody>
                  <a:tcPr/>
                </a:tc>
                <a:tc>
                  <a:txBody>
                    <a:bodyPr/>
                    <a:lstStyle/>
                    <a:p>
                      <a:r>
                        <a:rPr lang="en-US" b="0" dirty="0">
                          <a:solidFill>
                            <a:schemeClr val="tx2"/>
                          </a:solidFill>
                        </a:rPr>
                        <a:t>STD-004-CPP, STD-005-CPP, STD-010-CPP</a:t>
                      </a:r>
                    </a:p>
                  </a:txBody>
                  <a:tcPr/>
                </a:tc>
                <a:extLst>
                  <a:ext uri="{0D108BD9-81ED-4DB2-BD59-A6C34878D82A}">
                    <a16:rowId xmlns:a16="http://schemas.microsoft.com/office/drawing/2014/main" val="2614765422"/>
                  </a:ext>
                </a:extLst>
              </a:tr>
              <a:tr h="370840">
                <a:tc>
                  <a:txBody>
                    <a:bodyPr/>
                    <a:lstStyle/>
                    <a:p>
                      <a:pPr marL="0" indent="0">
                        <a:buFont typeface="+mj-lt"/>
                        <a:buNone/>
                      </a:pPr>
                      <a:r>
                        <a:rPr lang="en-US" b="0" dirty="0">
                          <a:solidFill>
                            <a:schemeClr val="tx2"/>
                          </a:solidFill>
                        </a:rPr>
                        <a:t>9. Use Effective Quality Assurance Techniques</a:t>
                      </a:r>
                    </a:p>
                  </a:txBody>
                  <a:tcPr/>
                </a:tc>
                <a:tc>
                  <a:txBody>
                    <a:bodyPr/>
                    <a:lstStyle/>
                    <a:p>
                      <a:r>
                        <a:rPr lang="en-US" b="0" dirty="0">
                          <a:solidFill>
                            <a:schemeClr val="tx2"/>
                          </a:solidFill>
                        </a:rPr>
                        <a:t>STD-002-CPP, STD-006-CPP, STD-008-CPP</a:t>
                      </a:r>
                    </a:p>
                  </a:txBody>
                  <a:tcPr/>
                </a:tc>
                <a:extLst>
                  <a:ext uri="{0D108BD9-81ED-4DB2-BD59-A6C34878D82A}">
                    <a16:rowId xmlns:a16="http://schemas.microsoft.com/office/drawing/2014/main" val="3987020619"/>
                  </a:ext>
                </a:extLst>
              </a:tr>
              <a:tr h="370840">
                <a:tc>
                  <a:txBody>
                    <a:bodyPr/>
                    <a:lstStyle/>
                    <a:p>
                      <a:pPr marL="0" indent="0">
                        <a:buFont typeface="+mj-lt"/>
                        <a:buNone/>
                      </a:pPr>
                      <a:r>
                        <a:rPr lang="en-US" b="0" dirty="0">
                          <a:solidFill>
                            <a:schemeClr val="tx2"/>
                          </a:solidFill>
                        </a:rPr>
                        <a:t>10. Adopt a Secure Coding Standard </a:t>
                      </a:r>
                    </a:p>
                  </a:txBody>
                  <a:tcPr/>
                </a:tc>
                <a:tc>
                  <a:txBody>
                    <a:bodyPr/>
                    <a:lstStyle/>
                    <a:p>
                      <a:r>
                        <a:rPr lang="en-US" b="0" dirty="0">
                          <a:solidFill>
                            <a:schemeClr val="tx2"/>
                          </a:solidFill>
                        </a:rPr>
                        <a:t>STD-001-CPP - STD-010-CPP</a:t>
                      </a:r>
                    </a:p>
                  </a:txBody>
                  <a:tcPr/>
                </a:tc>
                <a:extLst>
                  <a:ext uri="{0D108BD9-81ED-4DB2-BD59-A6C34878D82A}">
                    <a16:rowId xmlns:a16="http://schemas.microsoft.com/office/drawing/2014/main" val="2497729301"/>
                  </a:ext>
                </a:extLst>
              </a:tr>
            </a:tbl>
          </a:graphicData>
        </a:graphic>
      </p:graphicFrame>
      <p:pic>
        <p:nvPicPr>
          <p:cNvPr id="169" name="Google Shape;169;p5"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546915" y="364648"/>
            <a:ext cx="9942409" cy="876193"/>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CODING STANDARDS</a:t>
            </a:r>
            <a:endParaRPr dirty="0"/>
          </a:p>
        </p:txBody>
      </p:sp>
      <p:pic>
        <p:nvPicPr>
          <p:cNvPr id="176" name="Google Shape;176;p6"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4" name="Content Placeholder 3">
            <a:extLst>
              <a:ext uri="{FF2B5EF4-FFF2-40B4-BE49-F238E27FC236}">
                <a16:creationId xmlns:a16="http://schemas.microsoft.com/office/drawing/2014/main" id="{ACAC5A69-A857-B320-49CF-4C24A9ADC2ED}"/>
              </a:ext>
            </a:extLst>
          </p:cNvPr>
          <p:cNvGraphicFramePr>
            <a:graphicFrameLocks noGrp="1"/>
          </p:cNvGraphicFramePr>
          <p:nvPr>
            <p:ph idx="1"/>
            <p:extLst>
              <p:ext uri="{D42A27DB-BD31-4B8C-83A1-F6EECF244321}">
                <p14:modId xmlns:p14="http://schemas.microsoft.com/office/powerpoint/2010/main" val="4009840536"/>
              </p:ext>
            </p:extLst>
          </p:nvPr>
        </p:nvGraphicFramePr>
        <p:xfrm>
          <a:off x="783349" y="1308888"/>
          <a:ext cx="9942513" cy="5156200"/>
        </p:xfrm>
        <a:graphic>
          <a:graphicData uri="http://schemas.openxmlformats.org/drawingml/2006/table">
            <a:tbl>
              <a:tblPr firstRow="1" bandRow="1">
                <a:tableStyleId>{802198C4-3087-4945-87E3-76CBB3509B7E}</a:tableStyleId>
              </a:tblPr>
              <a:tblGrid>
                <a:gridCol w="3314171">
                  <a:extLst>
                    <a:ext uri="{9D8B030D-6E8A-4147-A177-3AD203B41FA5}">
                      <a16:colId xmlns:a16="http://schemas.microsoft.com/office/drawing/2014/main" val="4079242793"/>
                    </a:ext>
                  </a:extLst>
                </a:gridCol>
                <a:gridCol w="3314171">
                  <a:extLst>
                    <a:ext uri="{9D8B030D-6E8A-4147-A177-3AD203B41FA5}">
                      <a16:colId xmlns:a16="http://schemas.microsoft.com/office/drawing/2014/main" val="2607351786"/>
                    </a:ext>
                  </a:extLst>
                </a:gridCol>
                <a:gridCol w="3314171">
                  <a:extLst>
                    <a:ext uri="{9D8B030D-6E8A-4147-A177-3AD203B41FA5}">
                      <a16:colId xmlns:a16="http://schemas.microsoft.com/office/drawing/2014/main" val="2975432806"/>
                    </a:ext>
                  </a:extLst>
                </a:gridCol>
              </a:tblGrid>
              <a:tr h="370840">
                <a:tc>
                  <a:txBody>
                    <a:bodyPr/>
                    <a:lstStyle/>
                    <a:p>
                      <a:pPr algn="ctr"/>
                      <a:r>
                        <a:rPr lang="en-US" dirty="0">
                          <a:solidFill>
                            <a:schemeClr val="tx2"/>
                          </a:solidFill>
                        </a:rPr>
                        <a:t>Coding Standard</a:t>
                      </a:r>
                    </a:p>
                  </a:txBody>
                  <a:tcPr>
                    <a:solidFill>
                      <a:schemeClr val="bg1"/>
                    </a:solidFill>
                  </a:tcPr>
                </a:tc>
                <a:tc>
                  <a:txBody>
                    <a:bodyPr/>
                    <a:lstStyle/>
                    <a:p>
                      <a:pPr algn="ctr"/>
                      <a:r>
                        <a:rPr lang="en-US">
                          <a:solidFill>
                            <a:schemeClr val="tx2"/>
                          </a:solidFill>
                        </a:rPr>
                        <a:t>Label</a:t>
                      </a:r>
                      <a:endParaRPr lang="en-US" dirty="0">
                        <a:solidFill>
                          <a:schemeClr val="tx2"/>
                        </a:solidFill>
                      </a:endParaRPr>
                    </a:p>
                  </a:txBody>
                  <a:tcPr>
                    <a:solidFill>
                      <a:schemeClr val="bg1"/>
                    </a:solidFill>
                  </a:tcPr>
                </a:tc>
                <a:tc>
                  <a:txBody>
                    <a:bodyPr/>
                    <a:lstStyle/>
                    <a:p>
                      <a:pPr algn="ctr"/>
                      <a:r>
                        <a:rPr lang="en-US">
                          <a:solidFill>
                            <a:schemeClr val="tx2"/>
                          </a:solidFill>
                        </a:rPr>
                        <a:t>Name of Standard</a:t>
                      </a:r>
                      <a:endParaRPr lang="en-US" dirty="0">
                        <a:solidFill>
                          <a:schemeClr val="tx2"/>
                        </a:solidFill>
                      </a:endParaRPr>
                    </a:p>
                  </a:txBody>
                  <a:tcPr>
                    <a:solidFill>
                      <a:schemeClr val="bg1"/>
                    </a:solidFill>
                  </a:tcPr>
                </a:tc>
                <a:extLst>
                  <a:ext uri="{0D108BD9-81ED-4DB2-BD59-A6C34878D82A}">
                    <a16:rowId xmlns:a16="http://schemas.microsoft.com/office/drawing/2014/main" val="853112294"/>
                  </a:ext>
                </a:extLst>
              </a:tr>
              <a:tr h="370840">
                <a:tc>
                  <a:txBody>
                    <a:bodyPr/>
                    <a:lstStyle/>
                    <a:p>
                      <a:r>
                        <a:rPr lang="en-US" b="0" dirty="0">
                          <a:solidFill>
                            <a:schemeClr val="tx1"/>
                          </a:solidFill>
                        </a:rPr>
                        <a:t>Memory Protection</a:t>
                      </a:r>
                    </a:p>
                  </a:txBody>
                  <a:tcPr/>
                </a:tc>
                <a:tc>
                  <a:txBody>
                    <a:bodyPr/>
                    <a:lstStyle/>
                    <a:p>
                      <a:r>
                        <a:rPr lang="en-US" b="0" dirty="0">
                          <a:solidFill>
                            <a:schemeClr val="tx1"/>
                          </a:solidFill>
                        </a:rPr>
                        <a:t>STD-005-CPP</a:t>
                      </a:r>
                    </a:p>
                  </a:txBody>
                  <a:tcPr/>
                </a:tc>
                <a:tc>
                  <a:txBody>
                    <a:bodyPr/>
                    <a:lstStyle/>
                    <a:p>
                      <a:r>
                        <a:rPr lang="en-US" b="0" dirty="0">
                          <a:solidFill>
                            <a:schemeClr val="tx1"/>
                          </a:solidFill>
                        </a:rPr>
                        <a:t>Protect Dynamically Allocated Memory</a:t>
                      </a:r>
                    </a:p>
                  </a:txBody>
                  <a:tcPr/>
                </a:tc>
                <a:extLst>
                  <a:ext uri="{0D108BD9-81ED-4DB2-BD59-A6C34878D82A}">
                    <a16:rowId xmlns:a16="http://schemas.microsoft.com/office/drawing/2014/main" val="3309390874"/>
                  </a:ext>
                </a:extLst>
              </a:tr>
              <a:tr h="370840">
                <a:tc>
                  <a:txBody>
                    <a:bodyPr/>
                    <a:lstStyle/>
                    <a:p>
                      <a:r>
                        <a:rPr lang="en-US" b="0" dirty="0">
                          <a:solidFill>
                            <a:schemeClr val="tx1"/>
                          </a:solidFill>
                        </a:rPr>
                        <a:t>Data Type</a:t>
                      </a:r>
                    </a:p>
                  </a:txBody>
                  <a:tcPr/>
                </a:tc>
                <a:tc>
                  <a:txBody>
                    <a:bodyPr/>
                    <a:lstStyle/>
                    <a:p>
                      <a:r>
                        <a:rPr lang="en-US" b="0" dirty="0">
                          <a:solidFill>
                            <a:schemeClr val="tx1"/>
                          </a:solidFill>
                        </a:rPr>
                        <a:t>STD-001-CPP</a:t>
                      </a:r>
                    </a:p>
                  </a:txBody>
                  <a:tcPr/>
                </a:tc>
                <a:tc>
                  <a:txBody>
                    <a:bodyPr/>
                    <a:lstStyle/>
                    <a:p>
                      <a:r>
                        <a:rPr lang="en-US" b="0" dirty="0">
                          <a:solidFill>
                            <a:schemeClr val="tx1"/>
                          </a:solidFill>
                        </a:rPr>
                        <a:t>Use Appropriate Data Types</a:t>
                      </a:r>
                    </a:p>
                  </a:txBody>
                  <a:tcPr/>
                </a:tc>
                <a:extLst>
                  <a:ext uri="{0D108BD9-81ED-4DB2-BD59-A6C34878D82A}">
                    <a16:rowId xmlns:a16="http://schemas.microsoft.com/office/drawing/2014/main" val="1022372476"/>
                  </a:ext>
                </a:extLst>
              </a:tr>
              <a:tr h="370840">
                <a:tc>
                  <a:txBody>
                    <a:bodyPr/>
                    <a:lstStyle/>
                    <a:p>
                      <a:r>
                        <a:rPr lang="en-US" b="0" dirty="0">
                          <a:solidFill>
                            <a:schemeClr val="tx1"/>
                          </a:solidFill>
                        </a:rPr>
                        <a:t>Data Value</a:t>
                      </a:r>
                    </a:p>
                  </a:txBody>
                  <a:tcPr/>
                </a:tc>
                <a:tc>
                  <a:txBody>
                    <a:bodyPr/>
                    <a:lstStyle/>
                    <a:p>
                      <a:r>
                        <a:rPr lang="en-US" b="0" dirty="0">
                          <a:solidFill>
                            <a:schemeClr val="tx1"/>
                          </a:solidFill>
                        </a:rPr>
                        <a:t>STD-002-CPP</a:t>
                      </a:r>
                    </a:p>
                  </a:txBody>
                  <a:tcPr/>
                </a:tc>
                <a:tc>
                  <a:txBody>
                    <a:bodyPr/>
                    <a:lstStyle/>
                    <a:p>
                      <a:r>
                        <a:rPr lang="en-US" b="0" dirty="0">
                          <a:solidFill>
                            <a:schemeClr val="tx1"/>
                          </a:solidFill>
                        </a:rPr>
                        <a:t>Validate Data Values</a:t>
                      </a:r>
                    </a:p>
                  </a:txBody>
                  <a:tcPr/>
                </a:tc>
                <a:extLst>
                  <a:ext uri="{0D108BD9-81ED-4DB2-BD59-A6C34878D82A}">
                    <a16:rowId xmlns:a16="http://schemas.microsoft.com/office/drawing/2014/main" val="3611138871"/>
                  </a:ext>
                </a:extLst>
              </a:tr>
              <a:tr h="370840">
                <a:tc>
                  <a:txBody>
                    <a:bodyPr/>
                    <a:lstStyle/>
                    <a:p>
                      <a:r>
                        <a:rPr lang="en-US" b="0" dirty="0">
                          <a:solidFill>
                            <a:schemeClr val="tx1"/>
                          </a:solidFill>
                        </a:rPr>
                        <a:t>String Correctness</a:t>
                      </a:r>
                    </a:p>
                  </a:txBody>
                  <a:tcPr/>
                </a:tc>
                <a:tc>
                  <a:txBody>
                    <a:bodyPr/>
                    <a:lstStyle/>
                    <a:p>
                      <a:r>
                        <a:rPr lang="en-US" b="0" dirty="0">
                          <a:solidFill>
                            <a:schemeClr val="tx1"/>
                          </a:solidFill>
                        </a:rPr>
                        <a:t>STD-003-CPP</a:t>
                      </a:r>
                    </a:p>
                  </a:txBody>
                  <a:tcPr/>
                </a:tc>
                <a:tc>
                  <a:txBody>
                    <a:bodyPr/>
                    <a:lstStyle/>
                    <a:p>
                      <a:pPr>
                        <a:buNone/>
                      </a:pPr>
                      <a:r>
                        <a:rPr lang="en-US" b="0" dirty="0">
                          <a:solidFill>
                            <a:schemeClr val="tx1"/>
                          </a:solidFill>
                        </a:rPr>
                        <a:t>Use Safe String Handling Practices</a:t>
                      </a:r>
                    </a:p>
                  </a:txBody>
                  <a:tcPr anchor="ctr"/>
                </a:tc>
                <a:extLst>
                  <a:ext uri="{0D108BD9-81ED-4DB2-BD59-A6C34878D82A}">
                    <a16:rowId xmlns:a16="http://schemas.microsoft.com/office/drawing/2014/main" val="330523790"/>
                  </a:ext>
                </a:extLst>
              </a:tr>
              <a:tr h="370840">
                <a:tc>
                  <a:txBody>
                    <a:bodyPr/>
                    <a:lstStyle/>
                    <a:p>
                      <a:r>
                        <a:rPr lang="en-US" b="0" dirty="0">
                          <a:solidFill>
                            <a:schemeClr val="tx1"/>
                          </a:solidFill>
                        </a:rPr>
                        <a:t>SQL Injection</a:t>
                      </a:r>
                    </a:p>
                  </a:txBody>
                  <a:tcPr/>
                </a:tc>
                <a:tc>
                  <a:txBody>
                    <a:bodyPr/>
                    <a:lstStyle/>
                    <a:p>
                      <a:r>
                        <a:rPr lang="en-US" b="0" dirty="0">
                          <a:solidFill>
                            <a:schemeClr val="tx1"/>
                          </a:solidFill>
                        </a:rPr>
                        <a:t>STD-004-CPP</a:t>
                      </a:r>
                    </a:p>
                  </a:txBody>
                  <a:tcPr/>
                </a:tc>
                <a:tc>
                  <a:txBody>
                    <a:bodyPr/>
                    <a:lstStyle/>
                    <a:p>
                      <a:r>
                        <a:rPr lang="en-US" b="0" dirty="0">
                          <a:solidFill>
                            <a:schemeClr val="tx1"/>
                          </a:solidFill>
                        </a:rPr>
                        <a:t>Prevent SQL Injection Attacks</a:t>
                      </a:r>
                    </a:p>
                  </a:txBody>
                  <a:tcPr/>
                </a:tc>
                <a:extLst>
                  <a:ext uri="{0D108BD9-81ED-4DB2-BD59-A6C34878D82A}">
                    <a16:rowId xmlns:a16="http://schemas.microsoft.com/office/drawing/2014/main" val="4135251945"/>
                  </a:ext>
                </a:extLst>
              </a:tr>
              <a:tr h="370840">
                <a:tc>
                  <a:txBody>
                    <a:bodyPr/>
                    <a:lstStyle/>
                    <a:p>
                      <a:r>
                        <a:rPr lang="en-US" b="0" dirty="0">
                          <a:solidFill>
                            <a:schemeClr val="tx1"/>
                          </a:solidFill>
                        </a:rPr>
                        <a:t>Exceptions</a:t>
                      </a:r>
                    </a:p>
                  </a:txBody>
                  <a:tcPr/>
                </a:tc>
                <a:tc>
                  <a:txBody>
                    <a:bodyPr/>
                    <a:lstStyle/>
                    <a:p>
                      <a:pPr>
                        <a:buNone/>
                      </a:pPr>
                      <a:r>
                        <a:rPr lang="en-US" b="0" dirty="0">
                          <a:solidFill>
                            <a:schemeClr val="tx1"/>
                          </a:solidFill>
                        </a:rPr>
                        <a:t>STD-007-CPP</a:t>
                      </a:r>
                    </a:p>
                  </a:txBody>
                  <a:tcPr anchor="ctr"/>
                </a:tc>
                <a:tc>
                  <a:txBody>
                    <a:bodyPr/>
                    <a:lstStyle/>
                    <a:p>
                      <a:r>
                        <a:rPr lang="en-US" b="0" dirty="0">
                          <a:solidFill>
                            <a:schemeClr val="tx1"/>
                          </a:solidFill>
                        </a:rPr>
                        <a:t>Handle Exceptions Properly</a:t>
                      </a:r>
                    </a:p>
                  </a:txBody>
                  <a:tcPr/>
                </a:tc>
                <a:extLst>
                  <a:ext uri="{0D108BD9-81ED-4DB2-BD59-A6C34878D82A}">
                    <a16:rowId xmlns:a16="http://schemas.microsoft.com/office/drawing/2014/main" val="4127408473"/>
                  </a:ext>
                </a:extLst>
              </a:tr>
              <a:tr h="370840">
                <a:tc>
                  <a:txBody>
                    <a:bodyPr/>
                    <a:lstStyle/>
                    <a:p>
                      <a:r>
                        <a:rPr lang="en-US" b="0" dirty="0">
                          <a:solidFill>
                            <a:schemeClr val="tx1"/>
                          </a:solidFill>
                        </a:rPr>
                        <a:t>Declarations and Initialization</a:t>
                      </a:r>
                    </a:p>
                  </a:txBody>
                  <a:tcPr/>
                </a:tc>
                <a:tc>
                  <a:txBody>
                    <a:bodyPr/>
                    <a:lstStyle/>
                    <a:p>
                      <a:r>
                        <a:rPr lang="en-US" b="0" dirty="0">
                          <a:solidFill>
                            <a:schemeClr val="tx1"/>
                          </a:solidFill>
                        </a:rPr>
                        <a:t>STD-008-CPP</a:t>
                      </a:r>
                    </a:p>
                  </a:txBody>
                  <a:tcPr/>
                </a:tc>
                <a:tc>
                  <a:txBody>
                    <a:bodyPr/>
                    <a:lstStyle/>
                    <a:p>
                      <a:r>
                        <a:rPr lang="en-US" b="0" dirty="0">
                          <a:solidFill>
                            <a:schemeClr val="tx1"/>
                          </a:solidFill>
                        </a:rPr>
                        <a:t>Use Appropriate Object Lifetimes</a:t>
                      </a:r>
                    </a:p>
                  </a:txBody>
                  <a:tcPr/>
                </a:tc>
                <a:extLst>
                  <a:ext uri="{0D108BD9-81ED-4DB2-BD59-A6C34878D82A}">
                    <a16:rowId xmlns:a16="http://schemas.microsoft.com/office/drawing/2014/main" val="3693756332"/>
                  </a:ext>
                </a:extLst>
              </a:tr>
              <a:tr h="370840">
                <a:tc>
                  <a:txBody>
                    <a:bodyPr/>
                    <a:lstStyle/>
                    <a:p>
                      <a:r>
                        <a:rPr lang="en-US" b="0" dirty="0">
                          <a:solidFill>
                            <a:schemeClr val="tx1"/>
                          </a:solidFill>
                        </a:rPr>
                        <a:t>Assertions</a:t>
                      </a:r>
                    </a:p>
                  </a:txBody>
                  <a:tcPr/>
                </a:tc>
                <a:tc>
                  <a:txBody>
                    <a:bodyPr/>
                    <a:lstStyle/>
                    <a:p>
                      <a:r>
                        <a:rPr lang="en-US" b="0" dirty="0">
                          <a:solidFill>
                            <a:schemeClr val="tx1"/>
                          </a:solidFill>
                        </a:rPr>
                        <a:t>STD-006-CPP</a:t>
                      </a:r>
                    </a:p>
                  </a:txBody>
                  <a:tcPr/>
                </a:tc>
                <a:tc>
                  <a:txBody>
                    <a:bodyPr/>
                    <a:lstStyle/>
                    <a:p>
                      <a:r>
                        <a:rPr lang="en-US" b="0" dirty="0">
                          <a:solidFill>
                            <a:schemeClr val="tx1"/>
                          </a:solidFill>
                        </a:rPr>
                        <a:t>Use Assertions to Verify Program Assumptions</a:t>
                      </a:r>
                    </a:p>
                  </a:txBody>
                  <a:tcPr/>
                </a:tc>
                <a:extLst>
                  <a:ext uri="{0D108BD9-81ED-4DB2-BD59-A6C34878D82A}">
                    <a16:rowId xmlns:a16="http://schemas.microsoft.com/office/drawing/2014/main" val="2412030884"/>
                  </a:ext>
                </a:extLst>
              </a:tr>
              <a:tr h="370840">
                <a:tc>
                  <a:txBody>
                    <a:bodyPr/>
                    <a:lstStyle/>
                    <a:p>
                      <a:r>
                        <a:rPr lang="en-US" b="0">
                          <a:solidFill>
                            <a:schemeClr val="tx1"/>
                          </a:solidFill>
                        </a:rPr>
                        <a:t>Object-Oriented Programming</a:t>
                      </a:r>
                      <a:endParaRPr lang="en-US" b="0" dirty="0">
                        <a:solidFill>
                          <a:schemeClr val="tx1"/>
                        </a:solidFill>
                      </a:endParaRPr>
                    </a:p>
                  </a:txBody>
                  <a:tcPr/>
                </a:tc>
                <a:tc>
                  <a:txBody>
                    <a:bodyPr/>
                    <a:lstStyle/>
                    <a:p>
                      <a:r>
                        <a:rPr lang="en-US" b="0">
                          <a:solidFill>
                            <a:schemeClr val="tx1"/>
                          </a:solidFill>
                        </a:rPr>
                        <a:t>STD-009-CPP</a:t>
                      </a:r>
                      <a:endParaRPr lang="en-US" b="0" dirty="0">
                        <a:solidFill>
                          <a:schemeClr val="tx1"/>
                        </a:solidFill>
                      </a:endParaRPr>
                    </a:p>
                  </a:txBody>
                  <a:tcPr/>
                </a:tc>
                <a:tc>
                  <a:txBody>
                    <a:bodyPr/>
                    <a:lstStyle/>
                    <a:p>
                      <a:r>
                        <a:rPr lang="en-US" b="0">
                          <a:solidFill>
                            <a:schemeClr val="tx1"/>
                          </a:solidFill>
                        </a:rPr>
                        <a:t>Do Not Slice Derived Objects</a:t>
                      </a:r>
                      <a:endParaRPr lang="en-US" b="0" dirty="0">
                        <a:solidFill>
                          <a:schemeClr val="tx1"/>
                        </a:solidFill>
                      </a:endParaRPr>
                    </a:p>
                  </a:txBody>
                  <a:tcPr/>
                </a:tc>
                <a:extLst>
                  <a:ext uri="{0D108BD9-81ED-4DB2-BD59-A6C34878D82A}">
                    <a16:rowId xmlns:a16="http://schemas.microsoft.com/office/drawing/2014/main" val="1100550266"/>
                  </a:ext>
                </a:extLst>
              </a:tr>
              <a:tr h="370840">
                <a:tc>
                  <a:txBody>
                    <a:bodyPr/>
                    <a:lstStyle/>
                    <a:p>
                      <a:r>
                        <a:rPr lang="en-US" b="0">
                          <a:solidFill>
                            <a:schemeClr val="tx1"/>
                          </a:solidFill>
                        </a:rPr>
                        <a:t>Error Handling</a:t>
                      </a:r>
                      <a:endParaRPr lang="en-US" b="0" dirty="0">
                        <a:solidFill>
                          <a:schemeClr val="tx1"/>
                        </a:solidFill>
                      </a:endParaRPr>
                    </a:p>
                  </a:txBody>
                  <a:tcPr/>
                </a:tc>
                <a:tc>
                  <a:txBody>
                    <a:bodyPr/>
                    <a:lstStyle/>
                    <a:p>
                      <a:r>
                        <a:rPr lang="en-US" b="0">
                          <a:solidFill>
                            <a:schemeClr val="tx1"/>
                          </a:solidFill>
                        </a:rPr>
                        <a:t>STD-010-CPP</a:t>
                      </a:r>
                      <a:endParaRPr lang="en-US" b="0" dirty="0">
                        <a:solidFill>
                          <a:schemeClr val="tx1"/>
                        </a:solidFill>
                      </a:endParaRPr>
                    </a:p>
                  </a:txBody>
                  <a:tcPr/>
                </a:tc>
                <a:tc>
                  <a:txBody>
                    <a:bodyPr/>
                    <a:lstStyle/>
                    <a:p>
                      <a:pPr>
                        <a:buNone/>
                      </a:pPr>
                      <a:r>
                        <a:rPr lang="en-US" b="0" dirty="0">
                          <a:solidFill>
                            <a:schemeClr val="tx1"/>
                          </a:solidFill>
                        </a:rPr>
                        <a:t>Fail Gracefully and Log Errors</a:t>
                      </a:r>
                    </a:p>
                  </a:txBody>
                  <a:tcPr anchor="ctr"/>
                </a:tc>
                <a:extLst>
                  <a:ext uri="{0D108BD9-81ED-4DB2-BD59-A6C34878D82A}">
                    <a16:rowId xmlns:a16="http://schemas.microsoft.com/office/drawing/2014/main" val="582856346"/>
                  </a:ext>
                </a:extLst>
              </a:tr>
            </a:tbl>
          </a:graphicData>
        </a:graphic>
      </p:graphicFrame>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81C03-E9C2-A775-ECBC-70638238B5E3}"/>
              </a:ext>
            </a:extLst>
          </p:cNvPr>
          <p:cNvSpPr>
            <a:spLocks noGrp="1"/>
          </p:cNvSpPr>
          <p:nvPr>
            <p:ph type="title"/>
          </p:nvPr>
        </p:nvSpPr>
        <p:spPr>
          <a:xfrm>
            <a:off x="429417" y="584638"/>
            <a:ext cx="9942409" cy="876193"/>
          </a:xfrm>
        </p:spPr>
        <p:txBody>
          <a:bodyPr/>
          <a:lstStyle/>
          <a:p>
            <a:r>
              <a:rPr lang="en-US" dirty="0"/>
              <a:t>Vulnerability Ranking</a:t>
            </a:r>
          </a:p>
        </p:txBody>
      </p:sp>
      <p:sp>
        <p:nvSpPr>
          <p:cNvPr id="3" name="Content Placeholder 2">
            <a:extLst>
              <a:ext uri="{FF2B5EF4-FFF2-40B4-BE49-F238E27FC236}">
                <a16:creationId xmlns:a16="http://schemas.microsoft.com/office/drawing/2014/main" id="{347E2097-25A3-A88A-16FA-E3779F3937B9}"/>
              </a:ext>
            </a:extLst>
          </p:cNvPr>
          <p:cNvSpPr>
            <a:spLocks noGrp="1"/>
          </p:cNvSpPr>
          <p:nvPr>
            <p:ph idx="1"/>
          </p:nvPr>
        </p:nvSpPr>
        <p:spPr>
          <a:xfrm>
            <a:off x="429417" y="2133599"/>
            <a:ext cx="9942409" cy="3305503"/>
          </a:xfrm>
        </p:spPr>
        <p:txBody>
          <a:bodyPr>
            <a:normAutofit/>
          </a:bodyPr>
          <a:lstStyle/>
          <a:p>
            <a:r>
              <a:rPr lang="en-US" sz="2000" b="1" dirty="0"/>
              <a:t>L1</a:t>
            </a:r>
            <a:r>
              <a:rPr lang="en-US" sz="2000" dirty="0"/>
              <a:t> - Highest Priority: Highest-risk vulnerabilities requiring first attention</a:t>
            </a:r>
          </a:p>
          <a:p>
            <a:endParaRPr lang="en-US" sz="2000" dirty="0"/>
          </a:p>
          <a:p>
            <a:r>
              <a:rPr lang="en-US" sz="2000" b="1" dirty="0"/>
              <a:t>L2</a:t>
            </a:r>
            <a:r>
              <a:rPr lang="en-US" sz="2000" dirty="0"/>
              <a:t> - Medium Priority: Significant risks addressed after L1 issues</a:t>
            </a:r>
          </a:p>
          <a:p>
            <a:endParaRPr lang="en-US" sz="2000" dirty="0"/>
          </a:p>
          <a:p>
            <a:r>
              <a:rPr lang="en-US" sz="2000" b="1" dirty="0"/>
              <a:t>L3</a:t>
            </a:r>
            <a:r>
              <a:rPr lang="en-US" sz="2000" dirty="0"/>
              <a:t> - Lower Priority: Lower-severity or less-likely risks</a:t>
            </a:r>
          </a:p>
        </p:txBody>
      </p:sp>
      <p:sp>
        <p:nvSpPr>
          <p:cNvPr id="4" name="TextBox 3">
            <a:extLst>
              <a:ext uri="{FF2B5EF4-FFF2-40B4-BE49-F238E27FC236}">
                <a16:creationId xmlns:a16="http://schemas.microsoft.com/office/drawing/2014/main" id="{AB7B04A8-2B45-A6B2-BA5D-F99ACD516C33}"/>
              </a:ext>
            </a:extLst>
          </p:cNvPr>
          <p:cNvSpPr txBox="1"/>
          <p:nvPr/>
        </p:nvSpPr>
        <p:spPr>
          <a:xfrm>
            <a:off x="1623848" y="5762296"/>
            <a:ext cx="8576442" cy="369332"/>
          </a:xfrm>
          <a:prstGeom prst="rect">
            <a:avLst/>
          </a:prstGeom>
          <a:noFill/>
        </p:spPr>
        <p:txBody>
          <a:bodyPr wrap="square" rtlCol="0">
            <a:spAutoFit/>
          </a:bodyPr>
          <a:lstStyle/>
          <a:p>
            <a:r>
              <a:rPr lang="en-US" i="1" dirty="0"/>
              <a:t>*Rankings are based on severity, likelihood and remediation cost.*</a:t>
            </a:r>
          </a:p>
        </p:txBody>
      </p:sp>
      <p:pic>
        <p:nvPicPr>
          <p:cNvPr id="6" name="Google Shape;183;p7" descr="Green Pace logo">
            <a:extLst>
              <a:ext uri="{FF2B5EF4-FFF2-40B4-BE49-F238E27FC236}">
                <a16:creationId xmlns:a16="http://schemas.microsoft.com/office/drawing/2014/main" id="{EADDEE19-CCAB-56B7-5629-A16E3BAFED87}"/>
              </a:ext>
            </a:extLst>
          </p:cNvPr>
          <p:cNvPicPr preferRelativeResize="0"/>
          <p:nvPr/>
        </p:nvPicPr>
        <p:blipFill>
          <a:blip r:embed="rId2">
            <a:alphaModFix/>
          </a:blip>
          <a:stretch>
            <a:fillRect/>
          </a:stretch>
        </p:blipFill>
        <p:spPr>
          <a:xfrm>
            <a:off x="11091957" y="5439102"/>
            <a:ext cx="886601" cy="1149225"/>
          </a:xfrm>
          <a:prstGeom prst="rect">
            <a:avLst/>
          </a:prstGeom>
          <a:noFill/>
          <a:ln>
            <a:noFill/>
          </a:ln>
        </p:spPr>
      </p:pic>
    </p:spTree>
    <p:extLst>
      <p:ext uri="{BB962C8B-B14F-4D97-AF65-F5344CB8AC3E}">
        <p14:creationId xmlns:p14="http://schemas.microsoft.com/office/powerpoint/2010/main" val="32646403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ENCRYPTION POLICIES</a:t>
            </a:r>
            <a:endParaRPr dirty="0"/>
          </a:p>
        </p:txBody>
      </p:sp>
      <p:sp>
        <p:nvSpPr>
          <p:cNvPr id="182" name="Google Shape;182;p7"/>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285750" lvl="0" indent="-285750">
              <a:buFont typeface="Arial" panose="020B0604020202020204" pitchFamily="34" charset="0"/>
              <a:buChar char="•"/>
            </a:pPr>
            <a:r>
              <a:rPr lang="en-US" sz="2400" b="1" dirty="0"/>
              <a:t>Encryption at Rest: </a:t>
            </a:r>
            <a:r>
              <a:rPr lang="en-US" sz="2400" dirty="0"/>
              <a:t>Encrypt sensitive stored data using approved methods and secure key management. </a:t>
            </a:r>
          </a:p>
          <a:p>
            <a:pPr marL="285750" lvl="0" indent="-285750">
              <a:buFont typeface="Arial" panose="020B0604020202020204" pitchFamily="34" charset="0"/>
              <a:buChar char="•"/>
            </a:pPr>
            <a:endParaRPr lang="en-US" sz="2400" dirty="0"/>
          </a:p>
          <a:p>
            <a:pPr marL="285750" lvl="0" indent="-285750">
              <a:buFont typeface="Arial" panose="020B0604020202020204" pitchFamily="34" charset="0"/>
              <a:buChar char="•"/>
            </a:pPr>
            <a:r>
              <a:rPr lang="en-US" sz="2400" b="1" dirty="0"/>
              <a:t>Encryption in Flight: </a:t>
            </a:r>
            <a:r>
              <a:rPr lang="en-US" sz="2400" dirty="0"/>
              <a:t>Protect transmitted data using secure protocols such as TLS and HTTPS. </a:t>
            </a:r>
          </a:p>
          <a:p>
            <a:pPr marL="285750" lvl="0" indent="-285750">
              <a:buFont typeface="Arial" panose="020B0604020202020204" pitchFamily="34" charset="0"/>
              <a:buChar char="•"/>
            </a:pPr>
            <a:endParaRPr lang="en-US" sz="2400" dirty="0"/>
          </a:p>
          <a:p>
            <a:pPr marL="285750" lvl="0" indent="-285750">
              <a:buFont typeface="Arial" panose="020B0604020202020204" pitchFamily="34" charset="0"/>
              <a:buChar char="•"/>
            </a:pPr>
            <a:r>
              <a:rPr lang="en-US" sz="2400" b="1" dirty="0"/>
              <a:t>Encryption in Use: </a:t>
            </a:r>
            <a:r>
              <a:rPr lang="en-US" sz="2400" dirty="0"/>
              <a:t>Protect sensitive data while it is processed or stored in memory.</a:t>
            </a:r>
          </a:p>
          <a:p>
            <a:pPr marL="0" lvl="0" indent="0" algn="l" rtl="0">
              <a:lnSpc>
                <a:spcPct val="90000"/>
              </a:lnSpc>
              <a:spcBef>
                <a:spcPts val="1000"/>
              </a:spcBef>
              <a:spcAft>
                <a:spcPts val="0"/>
              </a:spcAft>
              <a:buClr>
                <a:schemeClr val="lt1"/>
              </a:buClr>
              <a:buSzPts val="1600"/>
              <a:buNone/>
            </a:pPr>
            <a:endParaRPr sz="1600" dirty="0"/>
          </a:p>
          <a:p>
            <a:pPr marL="228600" lvl="0" indent="-88900" algn="l" rtl="0">
              <a:lnSpc>
                <a:spcPct val="90000"/>
              </a:lnSpc>
              <a:spcBef>
                <a:spcPts val="1000"/>
              </a:spcBef>
              <a:spcAft>
                <a:spcPts val="0"/>
              </a:spcAft>
              <a:buClr>
                <a:schemeClr val="lt1"/>
              </a:buClr>
              <a:buSzPts val="2200"/>
              <a:buNone/>
            </a:pPr>
            <a:endParaRPr dirty="0"/>
          </a:p>
        </p:txBody>
      </p:sp>
      <p:pic>
        <p:nvPicPr>
          <p:cNvPr id="183" name="Google Shape;183;p7"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TRIPLE-A POLICIES</a:t>
            </a:r>
            <a:endParaRPr dirty="0"/>
          </a:p>
        </p:txBody>
      </p:sp>
      <p:sp>
        <p:nvSpPr>
          <p:cNvPr id="189" name="Google Shape;189;p8"/>
          <p:cNvSpPr txBox="1">
            <a:spLocks noGrp="1"/>
          </p:cNvSpPr>
          <p:nvPr>
            <p:ph idx="1"/>
          </p:nvPr>
        </p:nvSpPr>
        <p:spPr>
          <a:xfrm>
            <a:off x="420791" y="1920765"/>
            <a:ext cx="9942409" cy="4582510"/>
          </a:xfrm>
          <a:prstGeom prst="rect">
            <a:avLst/>
          </a:prstGeom>
          <a:noFill/>
          <a:ln>
            <a:noFill/>
          </a:ln>
        </p:spPr>
        <p:txBody>
          <a:bodyPr spcFirstLastPara="1" wrap="square" lIns="91425" tIns="45700" rIns="91425" bIns="45700" anchor="t" anchorCtr="0">
            <a:normAutofit lnSpcReduction="10000"/>
          </a:bodyPr>
          <a:lstStyle/>
          <a:p>
            <a:pPr marL="342900" lvl="0" indent="-342900">
              <a:buFont typeface="Arial" panose="020B0604020202020204" pitchFamily="34" charset="0"/>
              <a:buChar char="•"/>
            </a:pPr>
            <a:r>
              <a:rPr lang="en-US" sz="2400" b="1" dirty="0"/>
              <a:t>Authentication:</a:t>
            </a:r>
            <a:r>
              <a:rPr lang="en-US" sz="2400" dirty="0"/>
              <a:t> Require verified identities before access is granted, using unique accounts, strong passwords and MFA when appropriate. </a:t>
            </a:r>
          </a:p>
          <a:p>
            <a:pPr marL="342900" lvl="0" indent="-342900">
              <a:buFont typeface="Arial" panose="020B0604020202020204" pitchFamily="34" charset="0"/>
              <a:buChar char="•"/>
            </a:pPr>
            <a:endParaRPr lang="en-US" sz="2400" dirty="0"/>
          </a:p>
          <a:p>
            <a:pPr marL="342900" lvl="0" indent="-342900">
              <a:buFont typeface="Arial" panose="020B0604020202020204" pitchFamily="34" charset="0"/>
              <a:buChar char="•"/>
            </a:pPr>
            <a:r>
              <a:rPr lang="en-US" sz="2400" b="1" dirty="0"/>
              <a:t>Authorization:</a:t>
            </a:r>
            <a:r>
              <a:rPr lang="en-US" sz="2400" dirty="0"/>
              <a:t> Grant users only the permissions needed for their assigned responsibilities using least privilege. </a:t>
            </a:r>
          </a:p>
          <a:p>
            <a:pPr marL="342900" lvl="0" indent="-342900">
              <a:buFont typeface="Arial" panose="020B0604020202020204" pitchFamily="34" charset="0"/>
              <a:buChar char="•"/>
            </a:pPr>
            <a:endParaRPr lang="en-US" sz="2400" dirty="0"/>
          </a:p>
          <a:p>
            <a:pPr marL="342900" lvl="0" indent="-342900">
              <a:buFont typeface="Arial" panose="020B0604020202020204" pitchFamily="34" charset="0"/>
              <a:buChar char="•"/>
            </a:pPr>
            <a:r>
              <a:rPr lang="en-US" sz="2400" b="1" dirty="0"/>
              <a:t>Accounting:</a:t>
            </a:r>
            <a:r>
              <a:rPr lang="en-US" sz="2400" dirty="0"/>
              <a:t> Record and protect audit logs for security-related activity and review them regularly.</a:t>
            </a:r>
          </a:p>
        </p:txBody>
      </p:sp>
      <p:pic>
        <p:nvPicPr>
          <p:cNvPr id="190" name="Google Shape;190;p8"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a:t>Unit Testing</a:t>
            </a:r>
            <a:endParaRPr dirty="0"/>
          </a:p>
        </p:txBody>
      </p:sp>
      <p:sp>
        <p:nvSpPr>
          <p:cNvPr id="196" name="Google Shape;196;g9504e29505_0_0"/>
          <p:cNvSpPr txBox="1">
            <a:spLocks noGrp="1"/>
          </p:cNvSpPr>
          <p:nvPr>
            <p:ph idx="1"/>
          </p:nvPr>
        </p:nvSpPr>
        <p:spPr>
          <a:xfrm>
            <a:off x="221325" y="1493520"/>
            <a:ext cx="5666583" cy="5364480"/>
          </a:xfrm>
          <a:prstGeom prst="rect">
            <a:avLst/>
          </a:prstGeom>
          <a:noFill/>
          <a:ln>
            <a:noFill/>
          </a:ln>
        </p:spPr>
        <p:txBody>
          <a:bodyPr spcFirstLastPara="1" wrap="square" lIns="91425" tIns="45700" rIns="91425" bIns="45700" anchor="t" anchorCtr="0">
            <a:noAutofit/>
          </a:bodyPr>
          <a:lstStyle/>
          <a:p>
            <a:pPr marL="285750" lvl="0" indent="-285750">
              <a:buFont typeface="Arial" panose="020B0604020202020204" pitchFamily="34" charset="0"/>
              <a:buChar char="•"/>
            </a:pPr>
            <a:r>
              <a:rPr lang="en-US" sz="2200" b="1" dirty="0"/>
              <a:t>Selected Vulnerability:</a:t>
            </a:r>
            <a:r>
              <a:rPr lang="en-US" sz="2200" dirty="0"/>
              <a:t> STD-002-CPP - Validate Data Values </a:t>
            </a:r>
          </a:p>
          <a:p>
            <a:pPr marL="285750" lvl="0" indent="-285750">
              <a:buFont typeface="Arial" panose="020B0604020202020204" pitchFamily="34" charset="0"/>
              <a:buChar char="•"/>
            </a:pPr>
            <a:endParaRPr lang="en-US" sz="2200" dirty="0"/>
          </a:p>
          <a:p>
            <a:pPr marL="285750" lvl="0" indent="-285750">
              <a:buFont typeface="Arial" panose="020B0604020202020204" pitchFamily="34" charset="0"/>
              <a:buChar char="•"/>
            </a:pPr>
            <a:r>
              <a:rPr lang="en-US" sz="2200" b="1" dirty="0"/>
              <a:t>Security Risk:</a:t>
            </a:r>
            <a:r>
              <a:rPr lang="en-US" sz="2200" dirty="0"/>
              <a:t> Invalid numeric input and divide-by-zero errors </a:t>
            </a:r>
          </a:p>
          <a:p>
            <a:pPr marL="285750" lvl="0" indent="-285750">
              <a:buFont typeface="Arial" panose="020B0604020202020204" pitchFamily="34" charset="0"/>
              <a:buChar char="•"/>
            </a:pPr>
            <a:endParaRPr lang="en-US" sz="2200" dirty="0"/>
          </a:p>
          <a:p>
            <a:pPr marL="285750" lvl="0" indent="-285750">
              <a:buFont typeface="Arial" panose="020B0604020202020204" pitchFamily="34" charset="0"/>
              <a:buChar char="•"/>
            </a:pPr>
            <a:r>
              <a:rPr lang="en-US" sz="2200" b="1" dirty="0"/>
              <a:t>Testing Method:</a:t>
            </a:r>
            <a:r>
              <a:rPr lang="en-US" sz="2200" dirty="0"/>
              <a:t> C++ Unit Testing Framework in Visual Studio </a:t>
            </a:r>
          </a:p>
          <a:p>
            <a:pPr marL="285750" lvl="0" indent="-285750">
              <a:buFont typeface="Arial" panose="020B0604020202020204" pitchFamily="34" charset="0"/>
              <a:buChar char="•"/>
            </a:pPr>
            <a:endParaRPr lang="en-US" sz="2200" dirty="0"/>
          </a:p>
          <a:p>
            <a:pPr marL="285750" lvl="0" indent="-285750">
              <a:buFont typeface="Arial" panose="020B0604020202020204" pitchFamily="34" charset="0"/>
              <a:buChar char="•"/>
            </a:pPr>
            <a:r>
              <a:rPr lang="en-US" sz="2200" b="1" dirty="0"/>
              <a:t>Approach:</a:t>
            </a:r>
            <a:r>
              <a:rPr lang="en-US" sz="2200" dirty="0"/>
              <a:t> Test both valid and invalid input values</a:t>
            </a:r>
          </a:p>
          <a:p>
            <a:pPr marL="0" lvl="0" indent="0" algn="l" rtl="0">
              <a:lnSpc>
                <a:spcPct val="90000"/>
              </a:lnSpc>
              <a:spcBef>
                <a:spcPts val="1000"/>
              </a:spcBef>
              <a:spcAft>
                <a:spcPts val="0"/>
              </a:spcAft>
              <a:buSzPts val="1800"/>
              <a:buNone/>
            </a:pPr>
            <a:endParaRPr dirty="0"/>
          </a:p>
        </p:txBody>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2" name="TextBox 1">
            <a:extLst>
              <a:ext uri="{FF2B5EF4-FFF2-40B4-BE49-F238E27FC236}">
                <a16:creationId xmlns:a16="http://schemas.microsoft.com/office/drawing/2014/main" id="{9F11852C-E6E3-06F3-3455-78D0B0FBA275}"/>
              </a:ext>
            </a:extLst>
          </p:cNvPr>
          <p:cNvSpPr txBox="1"/>
          <p:nvPr/>
        </p:nvSpPr>
        <p:spPr>
          <a:xfrm>
            <a:off x="6476814" y="2707640"/>
            <a:ext cx="4225159" cy="3785652"/>
          </a:xfrm>
          <a:prstGeom prst="rect">
            <a:avLst/>
          </a:prstGeom>
          <a:pattFill prst="lgCheck">
            <a:fgClr>
              <a:srgbClr val="000000"/>
            </a:fgClr>
            <a:bgClr>
              <a:schemeClr val="bg1"/>
            </a:bgClr>
          </a:pattFill>
        </p:spPr>
        <p:txBody>
          <a:bodyPr wrap="square" rtlCol="0">
            <a:spAutoFit/>
          </a:bodyPr>
          <a:lstStyle/>
          <a:p>
            <a:pPr algn="ctr"/>
            <a:r>
              <a:rPr lang="en-US" sz="2400" dirty="0"/>
              <a:t>Compliant Validation:</a:t>
            </a:r>
          </a:p>
          <a:p>
            <a:pPr algn="ctr"/>
            <a:endParaRPr lang="en-US" sz="2400" dirty="0"/>
          </a:p>
          <a:p>
            <a:r>
              <a:rPr lang="en-US" sz="2400" dirty="0"/>
              <a:t>if (divisor != 0) {</a:t>
            </a:r>
          </a:p>
          <a:p>
            <a:r>
              <a:rPr lang="en-US" sz="2400" dirty="0"/>
              <a:t>    int result = 100 / divisor;</a:t>
            </a:r>
          </a:p>
          <a:p>
            <a:r>
              <a:rPr lang="en-US" sz="2400" dirty="0"/>
              <a:t>    std::</a:t>
            </a:r>
            <a:r>
              <a:rPr lang="en-US" sz="2400" dirty="0" err="1"/>
              <a:t>cout</a:t>
            </a:r>
            <a:r>
              <a:rPr lang="en-US" sz="2400" dirty="0"/>
              <a:t> &lt;&lt; result &lt;&lt; std::</a:t>
            </a:r>
            <a:r>
              <a:rPr lang="en-US" sz="2400" dirty="0" err="1"/>
              <a:t>endl</a:t>
            </a:r>
            <a:r>
              <a:rPr lang="en-US" sz="2400" dirty="0"/>
              <a:t>;</a:t>
            </a:r>
          </a:p>
          <a:p>
            <a:r>
              <a:rPr lang="en-US" sz="2400" dirty="0"/>
              <a:t>} else {</a:t>
            </a:r>
          </a:p>
          <a:p>
            <a:r>
              <a:rPr lang="en-US" sz="2400" dirty="0"/>
              <a:t>    std::</a:t>
            </a:r>
            <a:r>
              <a:rPr lang="en-US" sz="2400" dirty="0" err="1"/>
              <a:t>cout</a:t>
            </a:r>
            <a:r>
              <a:rPr lang="en-US" sz="2400" dirty="0"/>
              <a:t> &lt;&lt; "Invalid divisor." &lt;&lt; std::</a:t>
            </a:r>
            <a:r>
              <a:rPr lang="en-US" sz="2400" dirty="0" err="1"/>
              <a:t>endl</a:t>
            </a:r>
            <a:r>
              <a:rPr lang="en-US" sz="2400" dirty="0"/>
              <a:t>;</a:t>
            </a:r>
          </a:p>
          <a:p>
            <a:r>
              <a:rPr lang="en-US" sz="2400" dirty="0"/>
              <a:t>}</a:t>
            </a: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22469942-DAB7-BFFD-5C09-03B88ECCCBE9}"/>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7D722FF3-E556-D4B7-BB03-37C5D77D7942}"/>
              </a:ext>
            </a:extLst>
          </p:cNvPr>
          <p:cNvSpPr txBox="1">
            <a:spLocks noGrp="1"/>
          </p:cNvSpPr>
          <p:nvPr>
            <p:ph type="title"/>
          </p:nvPr>
        </p:nvSpPr>
        <p:spPr>
          <a:xfrm>
            <a:off x="429416" y="593249"/>
            <a:ext cx="9942409" cy="876193"/>
          </a:xfrm>
          <a:prstGeom prst="rect">
            <a:avLst/>
          </a:prstGeom>
          <a:noFill/>
          <a:ln>
            <a:noFill/>
          </a:ln>
        </p:spPr>
        <p:txBody>
          <a:bodyPr spcFirstLastPara="1" wrap="square" lIns="91425" tIns="45700" rIns="91425" bIns="45700" anchor="ctr" anchorCtr="0">
            <a:noAutofit/>
          </a:bodyPr>
          <a:lstStyle/>
          <a:p>
            <a:pPr lvl="0">
              <a:lnSpc>
                <a:spcPct val="90000"/>
              </a:lnSpc>
              <a:spcBef>
                <a:spcPts val="0"/>
              </a:spcBef>
              <a:buSzPts val="1800"/>
            </a:pPr>
            <a:r>
              <a:rPr lang="en-US" dirty="0"/>
              <a:t>Unit Testing: </a:t>
            </a:r>
            <a:r>
              <a:rPr lang="en-US" i="1" dirty="0"/>
              <a:t>Does the program correctly handle a valid positive divisor?</a:t>
            </a:r>
            <a:endParaRPr i="1" dirty="0"/>
          </a:p>
        </p:txBody>
      </p:sp>
      <p:sp>
        <p:nvSpPr>
          <p:cNvPr id="196" name="Google Shape;196;g9504e29505_0_0">
            <a:extLst>
              <a:ext uri="{FF2B5EF4-FFF2-40B4-BE49-F238E27FC236}">
                <a16:creationId xmlns:a16="http://schemas.microsoft.com/office/drawing/2014/main" id="{365D9EFE-19A9-6D84-158A-176CD97B7C79}"/>
              </a:ext>
            </a:extLst>
          </p:cNvPr>
          <p:cNvSpPr txBox="1">
            <a:spLocks noGrp="1"/>
          </p:cNvSpPr>
          <p:nvPr>
            <p:ph idx="1"/>
          </p:nvPr>
        </p:nvSpPr>
        <p:spPr>
          <a:xfrm>
            <a:off x="327816" y="2204218"/>
            <a:ext cx="4437223" cy="4137187"/>
          </a:xfrm>
          <a:prstGeom prst="rect">
            <a:avLst/>
          </a:prstGeom>
          <a:pattFill prst="lgCheck">
            <a:fgClr>
              <a:schemeClr val="bg2"/>
            </a:fgClr>
            <a:bgClr>
              <a:schemeClr val="bg1"/>
            </a:bgClr>
          </a:pattFill>
          <a:ln>
            <a:noFill/>
          </a:ln>
        </p:spPr>
        <p:txBody>
          <a:bodyPr spcFirstLastPara="1" wrap="square" lIns="91425" tIns="45700" rIns="91425" bIns="45700" anchor="t" anchorCtr="0">
            <a:noAutofit/>
          </a:bodyPr>
          <a:lstStyle/>
          <a:p>
            <a:pPr lvl="0">
              <a:lnSpc>
                <a:spcPct val="90000"/>
              </a:lnSpc>
              <a:buSzPts val="1800"/>
            </a:pPr>
            <a:r>
              <a:rPr lang="en-US" sz="2000" dirty="0"/>
              <a:t>TEST(</a:t>
            </a:r>
            <a:r>
              <a:rPr lang="en-US" sz="2000" dirty="0" err="1"/>
              <a:t>DataValueTest</a:t>
            </a:r>
            <a:r>
              <a:rPr lang="en-US" sz="2000" dirty="0"/>
              <a:t>, </a:t>
            </a:r>
            <a:r>
              <a:rPr lang="en-US" sz="2000" dirty="0" err="1"/>
              <a:t>ValidPositiveDivisor</a:t>
            </a:r>
            <a:r>
              <a:rPr lang="en-US" sz="2000" dirty="0"/>
              <a:t>)</a:t>
            </a:r>
          </a:p>
          <a:p>
            <a:pPr lvl="0">
              <a:lnSpc>
                <a:spcPct val="90000"/>
              </a:lnSpc>
              <a:buSzPts val="1800"/>
            </a:pPr>
            <a:r>
              <a:rPr lang="en-US" sz="2000" dirty="0"/>
              <a:t>{</a:t>
            </a:r>
          </a:p>
          <a:p>
            <a:pPr lvl="0">
              <a:lnSpc>
                <a:spcPct val="90000"/>
              </a:lnSpc>
              <a:buSzPts val="1800"/>
            </a:pPr>
            <a:r>
              <a:rPr lang="en-US" sz="2000" dirty="0"/>
              <a:t>    int result = 0;</a:t>
            </a:r>
          </a:p>
          <a:p>
            <a:pPr lvl="0">
              <a:lnSpc>
                <a:spcPct val="90000"/>
              </a:lnSpc>
              <a:buSzPts val="1800"/>
            </a:pPr>
            <a:endParaRPr lang="en-US" sz="2000" dirty="0"/>
          </a:p>
          <a:p>
            <a:pPr lvl="0">
              <a:lnSpc>
                <a:spcPct val="90000"/>
              </a:lnSpc>
              <a:buSzPts val="1800"/>
            </a:pPr>
            <a:r>
              <a:rPr lang="en-US" sz="2000" dirty="0"/>
              <a:t>    bool valid = </a:t>
            </a:r>
            <a:r>
              <a:rPr lang="en-US" sz="2000" dirty="0" err="1"/>
              <a:t>divideValue</a:t>
            </a:r>
            <a:r>
              <a:rPr lang="en-US" sz="2000" dirty="0"/>
              <a:t>(5, result);</a:t>
            </a:r>
          </a:p>
          <a:p>
            <a:pPr lvl="0">
              <a:lnSpc>
                <a:spcPct val="90000"/>
              </a:lnSpc>
              <a:buSzPts val="1800"/>
            </a:pPr>
            <a:endParaRPr lang="en-US" sz="2000" dirty="0"/>
          </a:p>
          <a:p>
            <a:pPr lvl="0">
              <a:lnSpc>
                <a:spcPct val="90000"/>
              </a:lnSpc>
              <a:buSzPts val="1800"/>
            </a:pPr>
            <a:r>
              <a:rPr lang="en-US" sz="2000" dirty="0"/>
              <a:t>    EXPECT_TRUE(valid);</a:t>
            </a:r>
          </a:p>
          <a:p>
            <a:pPr lvl="0">
              <a:lnSpc>
                <a:spcPct val="90000"/>
              </a:lnSpc>
              <a:buSzPts val="1800"/>
            </a:pPr>
            <a:r>
              <a:rPr lang="en-US" sz="2000" dirty="0"/>
              <a:t>    EXPECT_EQ(result, 20);</a:t>
            </a:r>
          </a:p>
          <a:p>
            <a:pPr lvl="0">
              <a:lnSpc>
                <a:spcPct val="90000"/>
              </a:lnSpc>
              <a:buSzPts val="1800"/>
            </a:pPr>
            <a:r>
              <a:rPr lang="en-US" sz="2000" dirty="0"/>
              <a:t>}</a:t>
            </a:r>
            <a:endParaRPr sz="2000" dirty="0"/>
          </a:p>
        </p:txBody>
      </p:sp>
      <p:pic>
        <p:nvPicPr>
          <p:cNvPr id="197" name="Google Shape;197;g9504e29505_0_0" descr="Green Pace logo">
            <a:extLst>
              <a:ext uri="{FF2B5EF4-FFF2-40B4-BE49-F238E27FC236}">
                <a16:creationId xmlns:a16="http://schemas.microsoft.com/office/drawing/2014/main" id="{5FD9DDB2-446A-B334-8385-149625303F96}"/>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2" name="TextBox 1">
            <a:extLst>
              <a:ext uri="{FF2B5EF4-FFF2-40B4-BE49-F238E27FC236}">
                <a16:creationId xmlns:a16="http://schemas.microsoft.com/office/drawing/2014/main" id="{7233E8DE-BC64-B973-C64D-24AD4BB37F9E}"/>
              </a:ext>
            </a:extLst>
          </p:cNvPr>
          <p:cNvSpPr txBox="1"/>
          <p:nvPr/>
        </p:nvSpPr>
        <p:spPr>
          <a:xfrm>
            <a:off x="4974019" y="1465554"/>
            <a:ext cx="4824248" cy="1477328"/>
          </a:xfrm>
          <a:prstGeom prst="rect">
            <a:avLst/>
          </a:prstGeom>
          <a:noFill/>
        </p:spPr>
        <p:txBody>
          <a:bodyPr wrap="square" rtlCol="0">
            <a:spAutoFit/>
          </a:bodyPr>
          <a:lstStyle/>
          <a:p>
            <a:r>
              <a:rPr lang="en-US" b="1" dirty="0"/>
              <a:t>Test Input: </a:t>
            </a:r>
            <a:r>
              <a:rPr lang="en-US" dirty="0"/>
              <a:t>5</a:t>
            </a:r>
          </a:p>
          <a:p>
            <a:endParaRPr lang="en-US" dirty="0"/>
          </a:p>
          <a:p>
            <a:r>
              <a:rPr lang="en-US" b="1" dirty="0"/>
              <a:t>Expected Result: </a:t>
            </a:r>
            <a:r>
              <a:rPr lang="en-US" dirty="0"/>
              <a:t>20</a:t>
            </a:r>
          </a:p>
          <a:p>
            <a:endParaRPr lang="en-US" dirty="0"/>
          </a:p>
          <a:p>
            <a:r>
              <a:rPr lang="en-US" b="1" dirty="0"/>
              <a:t>Actual Result: </a:t>
            </a:r>
            <a:r>
              <a:rPr lang="en-US" dirty="0"/>
              <a:t>PASS</a:t>
            </a:r>
          </a:p>
        </p:txBody>
      </p:sp>
      <p:pic>
        <p:nvPicPr>
          <p:cNvPr id="4" name="Picture 3">
            <a:extLst>
              <a:ext uri="{FF2B5EF4-FFF2-40B4-BE49-F238E27FC236}">
                <a16:creationId xmlns:a16="http://schemas.microsoft.com/office/drawing/2014/main" id="{AB5D7DA0-CF1C-5B8B-4C07-7EF6A4DD1973}"/>
              </a:ext>
            </a:extLst>
          </p:cNvPr>
          <p:cNvPicPr>
            <a:picLocks noChangeAspect="1"/>
          </p:cNvPicPr>
          <p:nvPr/>
        </p:nvPicPr>
        <p:blipFill>
          <a:blip r:embed="rId5"/>
          <a:stretch>
            <a:fillRect/>
          </a:stretch>
        </p:blipFill>
        <p:spPr>
          <a:xfrm>
            <a:off x="4974019" y="3321961"/>
            <a:ext cx="6366643" cy="2118565"/>
          </a:xfrm>
          <a:prstGeom prst="rect">
            <a:avLst/>
          </a:prstGeom>
        </p:spPr>
      </p:pic>
    </p:spTree>
    <p:custDataLst>
      <p:tags r:id="rId1"/>
    </p:custDataLst>
    <p:extLst>
      <p:ext uri="{BB962C8B-B14F-4D97-AF65-F5344CB8AC3E}">
        <p14:creationId xmlns:p14="http://schemas.microsoft.com/office/powerpoint/2010/main" val="30834185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2A07D057-865A-AB59-7FCD-40C423F638B3}"/>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040D6F58-0081-E799-C9B4-AB5FD46C5181}"/>
              </a:ext>
            </a:extLst>
          </p:cNvPr>
          <p:cNvSpPr txBox="1">
            <a:spLocks noGrp="1"/>
          </p:cNvSpPr>
          <p:nvPr>
            <p:ph type="title"/>
          </p:nvPr>
        </p:nvSpPr>
        <p:spPr>
          <a:xfrm>
            <a:off x="429416" y="593249"/>
            <a:ext cx="9942409" cy="876193"/>
          </a:xfrm>
          <a:prstGeom prst="rect">
            <a:avLst/>
          </a:prstGeom>
          <a:noFill/>
          <a:ln>
            <a:noFill/>
          </a:ln>
        </p:spPr>
        <p:txBody>
          <a:bodyPr spcFirstLastPara="1" wrap="square" lIns="91425" tIns="45700" rIns="91425" bIns="45700" anchor="ctr" anchorCtr="0">
            <a:noAutofit/>
          </a:bodyPr>
          <a:lstStyle/>
          <a:p>
            <a:pPr lvl="0">
              <a:lnSpc>
                <a:spcPct val="90000"/>
              </a:lnSpc>
              <a:spcBef>
                <a:spcPts val="0"/>
              </a:spcBef>
              <a:buSzPts val="1800"/>
            </a:pPr>
            <a:r>
              <a:rPr lang="en-US" dirty="0"/>
              <a:t>Unit Testing: </a:t>
            </a:r>
            <a:r>
              <a:rPr lang="en-US" i="1" dirty="0"/>
              <a:t>Does the program correctly handle a valid negative divisor?</a:t>
            </a:r>
            <a:endParaRPr i="1" dirty="0"/>
          </a:p>
        </p:txBody>
      </p:sp>
      <p:sp>
        <p:nvSpPr>
          <p:cNvPr id="196" name="Google Shape;196;g9504e29505_0_0">
            <a:extLst>
              <a:ext uri="{FF2B5EF4-FFF2-40B4-BE49-F238E27FC236}">
                <a16:creationId xmlns:a16="http://schemas.microsoft.com/office/drawing/2014/main" id="{52C16C8E-65C0-E70A-4434-27B2473AB033}"/>
              </a:ext>
            </a:extLst>
          </p:cNvPr>
          <p:cNvSpPr txBox="1">
            <a:spLocks noGrp="1"/>
          </p:cNvSpPr>
          <p:nvPr>
            <p:ph idx="1"/>
          </p:nvPr>
        </p:nvSpPr>
        <p:spPr>
          <a:xfrm>
            <a:off x="221325" y="2269294"/>
            <a:ext cx="4544603" cy="4223897"/>
          </a:xfrm>
          <a:prstGeom prst="rect">
            <a:avLst/>
          </a:prstGeom>
          <a:pattFill prst="lgCheck">
            <a:fgClr>
              <a:schemeClr val="bg2"/>
            </a:fgClr>
            <a:bgClr>
              <a:schemeClr val="bg1"/>
            </a:bgClr>
          </a:pattFill>
          <a:ln>
            <a:noFill/>
          </a:ln>
        </p:spPr>
        <p:txBody>
          <a:bodyPr spcFirstLastPara="1" wrap="square" lIns="91425" tIns="45700" rIns="91425" bIns="45700" anchor="t" anchorCtr="0">
            <a:noAutofit/>
          </a:bodyPr>
          <a:lstStyle/>
          <a:p>
            <a:pPr lvl="0">
              <a:lnSpc>
                <a:spcPct val="90000"/>
              </a:lnSpc>
              <a:buSzPts val="1800"/>
            </a:pPr>
            <a:r>
              <a:rPr lang="en-US" sz="2000" dirty="0"/>
              <a:t>TEST(</a:t>
            </a:r>
            <a:r>
              <a:rPr lang="en-US" sz="2000" dirty="0" err="1"/>
              <a:t>DataValueTest</a:t>
            </a:r>
            <a:r>
              <a:rPr lang="en-US" sz="2000" dirty="0"/>
              <a:t>, </a:t>
            </a:r>
            <a:r>
              <a:rPr lang="en-US" sz="2000" dirty="0" err="1"/>
              <a:t>ValidNegativeDivisor</a:t>
            </a:r>
            <a:r>
              <a:rPr lang="en-US" sz="2000" dirty="0"/>
              <a:t>)</a:t>
            </a:r>
          </a:p>
          <a:p>
            <a:pPr lvl="0">
              <a:lnSpc>
                <a:spcPct val="90000"/>
              </a:lnSpc>
              <a:buSzPts val="1800"/>
            </a:pPr>
            <a:r>
              <a:rPr lang="en-US" sz="2000" dirty="0"/>
              <a:t>{</a:t>
            </a:r>
          </a:p>
          <a:p>
            <a:pPr lvl="0">
              <a:lnSpc>
                <a:spcPct val="90000"/>
              </a:lnSpc>
              <a:buSzPts val="1800"/>
            </a:pPr>
            <a:r>
              <a:rPr lang="en-US" sz="2000" dirty="0"/>
              <a:t>    int result = 0;</a:t>
            </a:r>
          </a:p>
          <a:p>
            <a:pPr lvl="0">
              <a:lnSpc>
                <a:spcPct val="90000"/>
              </a:lnSpc>
              <a:buSzPts val="1800"/>
            </a:pPr>
            <a:endParaRPr lang="en-US" sz="2000" dirty="0"/>
          </a:p>
          <a:p>
            <a:pPr lvl="0">
              <a:lnSpc>
                <a:spcPct val="90000"/>
              </a:lnSpc>
              <a:buSzPts val="1800"/>
            </a:pPr>
            <a:r>
              <a:rPr lang="en-US" sz="2000" dirty="0"/>
              <a:t>    bool valid = </a:t>
            </a:r>
            <a:r>
              <a:rPr lang="en-US" sz="2000" dirty="0" err="1"/>
              <a:t>divideValue</a:t>
            </a:r>
            <a:r>
              <a:rPr lang="en-US" sz="2000" dirty="0"/>
              <a:t>(-5, result);</a:t>
            </a:r>
          </a:p>
          <a:p>
            <a:pPr lvl="0">
              <a:lnSpc>
                <a:spcPct val="90000"/>
              </a:lnSpc>
              <a:buSzPts val="1800"/>
            </a:pPr>
            <a:endParaRPr lang="en-US" sz="2000" dirty="0"/>
          </a:p>
          <a:p>
            <a:pPr lvl="0">
              <a:lnSpc>
                <a:spcPct val="90000"/>
              </a:lnSpc>
              <a:buSzPts val="1800"/>
            </a:pPr>
            <a:r>
              <a:rPr lang="en-US" sz="2000" dirty="0"/>
              <a:t>    EXPECT_TRUE(valid);</a:t>
            </a:r>
          </a:p>
          <a:p>
            <a:pPr lvl="0">
              <a:lnSpc>
                <a:spcPct val="90000"/>
              </a:lnSpc>
              <a:buSzPts val="1800"/>
            </a:pPr>
            <a:r>
              <a:rPr lang="en-US" sz="2000" dirty="0"/>
              <a:t>    EXPECT_EQ(result, -20);</a:t>
            </a:r>
          </a:p>
          <a:p>
            <a:pPr lvl="0">
              <a:lnSpc>
                <a:spcPct val="90000"/>
              </a:lnSpc>
              <a:buSzPts val="1800"/>
            </a:pPr>
            <a:r>
              <a:rPr lang="en-US" sz="2000" dirty="0"/>
              <a:t>}</a:t>
            </a:r>
            <a:endParaRPr sz="2000" dirty="0"/>
          </a:p>
        </p:txBody>
      </p:sp>
      <p:pic>
        <p:nvPicPr>
          <p:cNvPr id="197" name="Google Shape;197;g9504e29505_0_0" descr="Green Pace logo">
            <a:extLst>
              <a:ext uri="{FF2B5EF4-FFF2-40B4-BE49-F238E27FC236}">
                <a16:creationId xmlns:a16="http://schemas.microsoft.com/office/drawing/2014/main" id="{7595C9C4-C0F7-246A-E62C-6FC4BD741BBF}"/>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2" name="TextBox 1">
            <a:extLst>
              <a:ext uri="{FF2B5EF4-FFF2-40B4-BE49-F238E27FC236}">
                <a16:creationId xmlns:a16="http://schemas.microsoft.com/office/drawing/2014/main" id="{F232B1BB-DB6E-9CFC-3A14-B1DB533CEE17}"/>
              </a:ext>
            </a:extLst>
          </p:cNvPr>
          <p:cNvSpPr txBox="1"/>
          <p:nvPr/>
        </p:nvSpPr>
        <p:spPr>
          <a:xfrm>
            <a:off x="4974019" y="1469442"/>
            <a:ext cx="4824248" cy="1477328"/>
          </a:xfrm>
          <a:prstGeom prst="rect">
            <a:avLst/>
          </a:prstGeom>
          <a:noFill/>
        </p:spPr>
        <p:txBody>
          <a:bodyPr wrap="square" rtlCol="0">
            <a:spAutoFit/>
          </a:bodyPr>
          <a:lstStyle/>
          <a:p>
            <a:r>
              <a:rPr lang="en-US" b="1" dirty="0"/>
              <a:t>Test Input: </a:t>
            </a:r>
            <a:r>
              <a:rPr lang="en-US" dirty="0"/>
              <a:t>-5</a:t>
            </a:r>
          </a:p>
          <a:p>
            <a:endParaRPr lang="en-US" dirty="0"/>
          </a:p>
          <a:p>
            <a:r>
              <a:rPr lang="en-US" b="1" dirty="0"/>
              <a:t>Expected Result: </a:t>
            </a:r>
            <a:r>
              <a:rPr lang="en-US" dirty="0"/>
              <a:t>-20</a:t>
            </a:r>
          </a:p>
          <a:p>
            <a:endParaRPr lang="en-US" dirty="0"/>
          </a:p>
          <a:p>
            <a:r>
              <a:rPr lang="en-US" b="1" dirty="0"/>
              <a:t>Actual Result: </a:t>
            </a:r>
            <a:r>
              <a:rPr lang="en-US" dirty="0"/>
              <a:t>PASS</a:t>
            </a:r>
          </a:p>
        </p:txBody>
      </p:sp>
      <p:pic>
        <p:nvPicPr>
          <p:cNvPr id="5" name="Picture 4">
            <a:extLst>
              <a:ext uri="{FF2B5EF4-FFF2-40B4-BE49-F238E27FC236}">
                <a16:creationId xmlns:a16="http://schemas.microsoft.com/office/drawing/2014/main" id="{AB8F81C6-D7A1-9F54-88B8-3EE11D776D22}"/>
              </a:ext>
            </a:extLst>
          </p:cNvPr>
          <p:cNvPicPr>
            <a:picLocks noChangeAspect="1"/>
          </p:cNvPicPr>
          <p:nvPr/>
        </p:nvPicPr>
        <p:blipFill>
          <a:blip r:embed="rId5"/>
          <a:stretch>
            <a:fillRect/>
          </a:stretch>
        </p:blipFill>
        <p:spPr>
          <a:xfrm>
            <a:off x="4974019" y="3321961"/>
            <a:ext cx="6361100" cy="2118565"/>
          </a:xfrm>
          <a:prstGeom prst="rect">
            <a:avLst/>
          </a:prstGeom>
        </p:spPr>
      </p:pic>
    </p:spTree>
    <p:custDataLst>
      <p:tags r:id="rId1"/>
    </p:custDataLst>
    <p:extLst>
      <p:ext uri="{BB962C8B-B14F-4D97-AF65-F5344CB8AC3E}">
        <p14:creationId xmlns:p14="http://schemas.microsoft.com/office/powerpoint/2010/main" val="40882879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D074AB3E-1086-6CA5-85BA-539791EC79F3}"/>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DD99F83E-E110-13C6-2FD5-0EB878759FF5}"/>
              </a:ext>
            </a:extLst>
          </p:cNvPr>
          <p:cNvSpPr txBox="1">
            <a:spLocks noGrp="1"/>
          </p:cNvSpPr>
          <p:nvPr>
            <p:ph type="title"/>
          </p:nvPr>
        </p:nvSpPr>
        <p:spPr>
          <a:xfrm>
            <a:off x="429416" y="593249"/>
            <a:ext cx="9942409" cy="876193"/>
          </a:xfrm>
          <a:prstGeom prst="rect">
            <a:avLst/>
          </a:prstGeom>
          <a:noFill/>
          <a:ln>
            <a:noFill/>
          </a:ln>
        </p:spPr>
        <p:txBody>
          <a:bodyPr spcFirstLastPara="1" wrap="square" lIns="91425" tIns="45700" rIns="91425" bIns="45700" anchor="ctr" anchorCtr="0">
            <a:noAutofit/>
          </a:bodyPr>
          <a:lstStyle/>
          <a:p>
            <a:pPr lvl="0">
              <a:lnSpc>
                <a:spcPct val="90000"/>
              </a:lnSpc>
              <a:spcBef>
                <a:spcPts val="0"/>
              </a:spcBef>
              <a:buSzPts val="1800"/>
            </a:pPr>
            <a:r>
              <a:rPr lang="en-US" dirty="0"/>
              <a:t>Unit Testing: </a:t>
            </a:r>
            <a:r>
              <a:rPr lang="en-US" i="1" dirty="0"/>
              <a:t>Does the program reject a divisor of zero?</a:t>
            </a:r>
            <a:endParaRPr i="1" dirty="0"/>
          </a:p>
        </p:txBody>
      </p:sp>
      <p:sp>
        <p:nvSpPr>
          <p:cNvPr id="196" name="Google Shape;196;g9504e29505_0_0">
            <a:extLst>
              <a:ext uri="{FF2B5EF4-FFF2-40B4-BE49-F238E27FC236}">
                <a16:creationId xmlns:a16="http://schemas.microsoft.com/office/drawing/2014/main" id="{56BD6F68-8100-2386-CBD7-F6C7BCBE45FB}"/>
              </a:ext>
            </a:extLst>
          </p:cNvPr>
          <p:cNvSpPr txBox="1">
            <a:spLocks noGrp="1"/>
          </p:cNvSpPr>
          <p:nvPr>
            <p:ph idx="1"/>
          </p:nvPr>
        </p:nvSpPr>
        <p:spPr>
          <a:xfrm>
            <a:off x="163613" y="2442852"/>
            <a:ext cx="4460239" cy="3903507"/>
          </a:xfrm>
          <a:prstGeom prst="rect">
            <a:avLst/>
          </a:prstGeom>
          <a:pattFill prst="lgCheck">
            <a:fgClr>
              <a:schemeClr val="bg1"/>
            </a:fgClr>
            <a:bgClr>
              <a:schemeClr val="bg2"/>
            </a:bgClr>
          </a:pattFill>
          <a:ln>
            <a:noFill/>
          </a:ln>
        </p:spPr>
        <p:txBody>
          <a:bodyPr spcFirstLastPara="1" wrap="square" lIns="91425" tIns="45700" rIns="91425" bIns="45700" anchor="t" anchorCtr="0">
            <a:noAutofit/>
          </a:bodyPr>
          <a:lstStyle/>
          <a:p>
            <a:pPr lvl="0">
              <a:lnSpc>
                <a:spcPct val="90000"/>
              </a:lnSpc>
              <a:buSzPts val="1800"/>
            </a:pPr>
            <a:r>
              <a:rPr lang="en-US" sz="2000" dirty="0"/>
              <a:t>TEST(</a:t>
            </a:r>
            <a:r>
              <a:rPr lang="en-US" sz="2000" dirty="0" err="1"/>
              <a:t>DataValueTest</a:t>
            </a:r>
            <a:r>
              <a:rPr lang="en-US" sz="2000" dirty="0"/>
              <a:t>, </a:t>
            </a:r>
            <a:r>
              <a:rPr lang="en-US" sz="2000" dirty="0" err="1"/>
              <a:t>ZeroDivisorRejected</a:t>
            </a:r>
            <a:r>
              <a:rPr lang="en-US" sz="2000" dirty="0"/>
              <a:t>)</a:t>
            </a:r>
          </a:p>
          <a:p>
            <a:pPr lvl="0">
              <a:lnSpc>
                <a:spcPct val="90000"/>
              </a:lnSpc>
              <a:buSzPts val="1800"/>
            </a:pPr>
            <a:r>
              <a:rPr lang="en-US" sz="2000" dirty="0"/>
              <a:t>{</a:t>
            </a:r>
          </a:p>
          <a:p>
            <a:pPr lvl="0">
              <a:lnSpc>
                <a:spcPct val="90000"/>
              </a:lnSpc>
              <a:buSzPts val="1800"/>
            </a:pPr>
            <a:r>
              <a:rPr lang="en-US" sz="2000" dirty="0"/>
              <a:t>    int result = 0;</a:t>
            </a:r>
          </a:p>
          <a:p>
            <a:pPr lvl="0">
              <a:lnSpc>
                <a:spcPct val="90000"/>
              </a:lnSpc>
              <a:buSzPts val="1800"/>
            </a:pPr>
            <a:endParaRPr lang="en-US" sz="2000" dirty="0"/>
          </a:p>
          <a:p>
            <a:pPr lvl="0">
              <a:lnSpc>
                <a:spcPct val="90000"/>
              </a:lnSpc>
              <a:buSzPts val="1800"/>
            </a:pPr>
            <a:r>
              <a:rPr lang="en-US" sz="2000" dirty="0"/>
              <a:t>    bool valid = </a:t>
            </a:r>
            <a:r>
              <a:rPr lang="en-US" sz="2000" dirty="0" err="1"/>
              <a:t>divideValue</a:t>
            </a:r>
            <a:r>
              <a:rPr lang="en-US" sz="2000" dirty="0"/>
              <a:t>(0, result);</a:t>
            </a:r>
          </a:p>
          <a:p>
            <a:pPr lvl="0">
              <a:lnSpc>
                <a:spcPct val="90000"/>
              </a:lnSpc>
              <a:buSzPts val="1800"/>
            </a:pPr>
            <a:endParaRPr lang="en-US" sz="2000" dirty="0"/>
          </a:p>
          <a:p>
            <a:pPr lvl="0">
              <a:lnSpc>
                <a:spcPct val="90000"/>
              </a:lnSpc>
              <a:buSzPts val="1800"/>
            </a:pPr>
            <a:r>
              <a:rPr lang="en-US" sz="2000" dirty="0"/>
              <a:t>    EXPECT_FALSE(valid);</a:t>
            </a:r>
          </a:p>
          <a:p>
            <a:pPr lvl="0">
              <a:lnSpc>
                <a:spcPct val="90000"/>
              </a:lnSpc>
              <a:buSzPts val="1800"/>
            </a:pPr>
            <a:r>
              <a:rPr lang="en-US" sz="2000" dirty="0"/>
              <a:t>}</a:t>
            </a:r>
            <a:endParaRPr sz="2000" dirty="0"/>
          </a:p>
        </p:txBody>
      </p:sp>
      <p:pic>
        <p:nvPicPr>
          <p:cNvPr id="197" name="Google Shape;197;g9504e29505_0_0" descr="Green Pace logo">
            <a:extLst>
              <a:ext uri="{FF2B5EF4-FFF2-40B4-BE49-F238E27FC236}">
                <a16:creationId xmlns:a16="http://schemas.microsoft.com/office/drawing/2014/main" id="{C48BDD94-C123-295F-79E6-C07E6B9CD438}"/>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2" name="TextBox 1">
            <a:extLst>
              <a:ext uri="{FF2B5EF4-FFF2-40B4-BE49-F238E27FC236}">
                <a16:creationId xmlns:a16="http://schemas.microsoft.com/office/drawing/2014/main" id="{39995C91-71F3-2CE1-8C05-AA225516228D}"/>
              </a:ext>
            </a:extLst>
          </p:cNvPr>
          <p:cNvSpPr txBox="1"/>
          <p:nvPr/>
        </p:nvSpPr>
        <p:spPr>
          <a:xfrm>
            <a:off x="4974019" y="1474274"/>
            <a:ext cx="4824248" cy="1477328"/>
          </a:xfrm>
          <a:prstGeom prst="rect">
            <a:avLst/>
          </a:prstGeom>
          <a:noFill/>
        </p:spPr>
        <p:txBody>
          <a:bodyPr wrap="square" rtlCol="0">
            <a:spAutoFit/>
          </a:bodyPr>
          <a:lstStyle/>
          <a:p>
            <a:r>
              <a:rPr lang="en-US" b="1" dirty="0"/>
              <a:t>Test Input: </a:t>
            </a:r>
            <a:r>
              <a:rPr lang="en-US" dirty="0"/>
              <a:t>0</a:t>
            </a:r>
          </a:p>
          <a:p>
            <a:endParaRPr lang="en-US" dirty="0"/>
          </a:p>
          <a:p>
            <a:r>
              <a:rPr lang="en-US" b="1" dirty="0"/>
              <a:t>Expected Result: </a:t>
            </a:r>
            <a:r>
              <a:rPr lang="en-US" dirty="0"/>
              <a:t>Rejected</a:t>
            </a:r>
          </a:p>
          <a:p>
            <a:endParaRPr lang="en-US" dirty="0"/>
          </a:p>
          <a:p>
            <a:r>
              <a:rPr lang="en-US" b="1" dirty="0"/>
              <a:t>Actual Result: </a:t>
            </a:r>
            <a:r>
              <a:rPr lang="en-US" dirty="0"/>
              <a:t>PASS</a:t>
            </a:r>
          </a:p>
        </p:txBody>
      </p:sp>
      <p:pic>
        <p:nvPicPr>
          <p:cNvPr id="5" name="Picture 4">
            <a:extLst>
              <a:ext uri="{FF2B5EF4-FFF2-40B4-BE49-F238E27FC236}">
                <a16:creationId xmlns:a16="http://schemas.microsoft.com/office/drawing/2014/main" id="{5A032614-B3C6-8268-4FA1-EAC55C621191}"/>
              </a:ext>
            </a:extLst>
          </p:cNvPr>
          <p:cNvPicPr>
            <a:picLocks noChangeAspect="1"/>
          </p:cNvPicPr>
          <p:nvPr/>
        </p:nvPicPr>
        <p:blipFill>
          <a:blip r:embed="rId5"/>
          <a:stretch>
            <a:fillRect/>
          </a:stretch>
        </p:blipFill>
        <p:spPr>
          <a:xfrm>
            <a:off x="4974019" y="3348687"/>
            <a:ext cx="6382515" cy="2091839"/>
          </a:xfrm>
          <a:prstGeom prst="rect">
            <a:avLst/>
          </a:prstGeom>
        </p:spPr>
      </p:pic>
    </p:spTree>
    <p:custDataLst>
      <p:tags r:id="rId1"/>
    </p:custDataLst>
    <p:extLst>
      <p:ext uri="{BB962C8B-B14F-4D97-AF65-F5344CB8AC3E}">
        <p14:creationId xmlns:p14="http://schemas.microsoft.com/office/powerpoint/2010/main" val="30646530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9129F2BD-A2C8-AB24-10F4-CA7E8AB664F6}"/>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3DACD94E-4C1B-F278-9C3C-2DB730248FAF}"/>
              </a:ext>
            </a:extLst>
          </p:cNvPr>
          <p:cNvSpPr txBox="1">
            <a:spLocks noGrp="1"/>
          </p:cNvSpPr>
          <p:nvPr>
            <p:ph type="title"/>
          </p:nvPr>
        </p:nvSpPr>
        <p:spPr>
          <a:xfrm>
            <a:off x="429416" y="593249"/>
            <a:ext cx="9942409" cy="876193"/>
          </a:xfrm>
          <a:prstGeom prst="rect">
            <a:avLst/>
          </a:prstGeom>
          <a:noFill/>
          <a:ln>
            <a:noFill/>
          </a:ln>
        </p:spPr>
        <p:txBody>
          <a:bodyPr spcFirstLastPara="1" wrap="square" lIns="91425" tIns="45700" rIns="91425" bIns="45700" anchor="ctr" anchorCtr="0">
            <a:noAutofit/>
          </a:bodyPr>
          <a:lstStyle/>
          <a:p>
            <a:pPr lvl="0">
              <a:lnSpc>
                <a:spcPct val="90000"/>
              </a:lnSpc>
              <a:spcBef>
                <a:spcPts val="0"/>
              </a:spcBef>
              <a:buSzPts val="1800"/>
            </a:pPr>
            <a:r>
              <a:rPr lang="en-US" dirty="0"/>
              <a:t>Unit Testing: </a:t>
            </a:r>
            <a:r>
              <a:rPr lang="en-US" i="1" dirty="0"/>
              <a:t>Does the program correctly handle a divisor of one?</a:t>
            </a:r>
            <a:endParaRPr i="1" dirty="0"/>
          </a:p>
        </p:txBody>
      </p:sp>
      <p:sp>
        <p:nvSpPr>
          <p:cNvPr id="196" name="Google Shape;196;g9504e29505_0_0">
            <a:extLst>
              <a:ext uri="{FF2B5EF4-FFF2-40B4-BE49-F238E27FC236}">
                <a16:creationId xmlns:a16="http://schemas.microsoft.com/office/drawing/2014/main" id="{E7EA5492-F374-3BF2-59CF-2285000CC92E}"/>
              </a:ext>
            </a:extLst>
          </p:cNvPr>
          <p:cNvSpPr txBox="1">
            <a:spLocks noGrp="1"/>
          </p:cNvSpPr>
          <p:nvPr>
            <p:ph idx="1"/>
          </p:nvPr>
        </p:nvSpPr>
        <p:spPr>
          <a:xfrm>
            <a:off x="221325" y="2263613"/>
            <a:ext cx="4543715" cy="3751107"/>
          </a:xfrm>
          <a:prstGeom prst="rect">
            <a:avLst/>
          </a:prstGeom>
          <a:pattFill prst="lgCheck">
            <a:fgClr>
              <a:schemeClr val="bg1"/>
            </a:fgClr>
            <a:bgClr>
              <a:schemeClr val="bg2"/>
            </a:bgClr>
          </a:pattFill>
          <a:ln>
            <a:noFill/>
          </a:ln>
        </p:spPr>
        <p:txBody>
          <a:bodyPr spcFirstLastPara="1" wrap="square" lIns="91425" tIns="45700" rIns="91425" bIns="45700" anchor="t" anchorCtr="0">
            <a:noAutofit/>
          </a:bodyPr>
          <a:lstStyle/>
          <a:p>
            <a:pPr lvl="0">
              <a:lnSpc>
                <a:spcPct val="90000"/>
              </a:lnSpc>
              <a:buSzPts val="1800"/>
            </a:pPr>
            <a:r>
              <a:rPr lang="en-US" sz="2000" dirty="0"/>
              <a:t>TEST(</a:t>
            </a:r>
            <a:r>
              <a:rPr lang="en-US" sz="2000" dirty="0" err="1"/>
              <a:t>DataValueTest</a:t>
            </a:r>
            <a:r>
              <a:rPr lang="en-US" sz="2000" dirty="0"/>
              <a:t>, </a:t>
            </a:r>
            <a:r>
              <a:rPr lang="en-US" sz="2000" dirty="0" err="1"/>
              <a:t>DivisorOfOne</a:t>
            </a:r>
            <a:r>
              <a:rPr lang="en-US" sz="2000" dirty="0"/>
              <a:t>)</a:t>
            </a:r>
          </a:p>
          <a:p>
            <a:pPr lvl="0">
              <a:lnSpc>
                <a:spcPct val="90000"/>
              </a:lnSpc>
              <a:buSzPts val="1800"/>
            </a:pPr>
            <a:r>
              <a:rPr lang="en-US" sz="2000" dirty="0"/>
              <a:t>{</a:t>
            </a:r>
          </a:p>
          <a:p>
            <a:pPr lvl="0">
              <a:lnSpc>
                <a:spcPct val="90000"/>
              </a:lnSpc>
              <a:buSzPts val="1800"/>
            </a:pPr>
            <a:r>
              <a:rPr lang="en-US" sz="2000" dirty="0"/>
              <a:t>    int result = 0;</a:t>
            </a:r>
          </a:p>
          <a:p>
            <a:pPr lvl="0">
              <a:lnSpc>
                <a:spcPct val="90000"/>
              </a:lnSpc>
              <a:buSzPts val="1800"/>
            </a:pPr>
            <a:endParaRPr lang="en-US" sz="2000" dirty="0"/>
          </a:p>
          <a:p>
            <a:pPr lvl="0">
              <a:lnSpc>
                <a:spcPct val="90000"/>
              </a:lnSpc>
              <a:buSzPts val="1800"/>
            </a:pPr>
            <a:r>
              <a:rPr lang="en-US" sz="2000" dirty="0"/>
              <a:t>    bool valid = </a:t>
            </a:r>
            <a:r>
              <a:rPr lang="en-US" sz="2000" dirty="0" err="1"/>
              <a:t>divideValue</a:t>
            </a:r>
            <a:r>
              <a:rPr lang="en-US" sz="2000" dirty="0"/>
              <a:t>(1, result);</a:t>
            </a:r>
          </a:p>
          <a:p>
            <a:pPr lvl="0">
              <a:lnSpc>
                <a:spcPct val="90000"/>
              </a:lnSpc>
              <a:buSzPts val="1800"/>
            </a:pPr>
            <a:endParaRPr lang="en-US" sz="2000" dirty="0"/>
          </a:p>
          <a:p>
            <a:pPr lvl="0">
              <a:lnSpc>
                <a:spcPct val="90000"/>
              </a:lnSpc>
              <a:buSzPts val="1800"/>
            </a:pPr>
            <a:r>
              <a:rPr lang="en-US" sz="2000" dirty="0"/>
              <a:t>    EXPECT_TRUE(valid);</a:t>
            </a:r>
          </a:p>
          <a:p>
            <a:pPr lvl="0">
              <a:lnSpc>
                <a:spcPct val="90000"/>
              </a:lnSpc>
              <a:buSzPts val="1800"/>
            </a:pPr>
            <a:r>
              <a:rPr lang="en-US" sz="2000" dirty="0"/>
              <a:t>    EXPECT_EQ(result, 100);</a:t>
            </a:r>
          </a:p>
          <a:p>
            <a:pPr lvl="0">
              <a:lnSpc>
                <a:spcPct val="90000"/>
              </a:lnSpc>
              <a:buSzPts val="1800"/>
            </a:pPr>
            <a:r>
              <a:rPr lang="en-US" sz="2000" dirty="0"/>
              <a:t>}</a:t>
            </a:r>
            <a:endParaRPr sz="2000" dirty="0"/>
          </a:p>
        </p:txBody>
      </p:sp>
      <p:pic>
        <p:nvPicPr>
          <p:cNvPr id="197" name="Google Shape;197;g9504e29505_0_0" descr="Green Pace logo">
            <a:extLst>
              <a:ext uri="{FF2B5EF4-FFF2-40B4-BE49-F238E27FC236}">
                <a16:creationId xmlns:a16="http://schemas.microsoft.com/office/drawing/2014/main" id="{8D7867E3-0852-E6AB-61DC-2922667D0AEF}"/>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2" name="TextBox 1">
            <a:extLst>
              <a:ext uri="{FF2B5EF4-FFF2-40B4-BE49-F238E27FC236}">
                <a16:creationId xmlns:a16="http://schemas.microsoft.com/office/drawing/2014/main" id="{622FF38D-915E-A75B-F9D6-200691CCD7F8}"/>
              </a:ext>
            </a:extLst>
          </p:cNvPr>
          <p:cNvSpPr txBox="1"/>
          <p:nvPr/>
        </p:nvSpPr>
        <p:spPr>
          <a:xfrm>
            <a:off x="4974019" y="1469442"/>
            <a:ext cx="4824248" cy="1477328"/>
          </a:xfrm>
          <a:prstGeom prst="rect">
            <a:avLst/>
          </a:prstGeom>
          <a:noFill/>
        </p:spPr>
        <p:txBody>
          <a:bodyPr wrap="square" rtlCol="0">
            <a:spAutoFit/>
          </a:bodyPr>
          <a:lstStyle/>
          <a:p>
            <a:r>
              <a:rPr lang="en-US" b="1" dirty="0"/>
              <a:t>Test Input: </a:t>
            </a:r>
            <a:r>
              <a:rPr lang="en-US" dirty="0"/>
              <a:t>1</a:t>
            </a:r>
          </a:p>
          <a:p>
            <a:endParaRPr lang="en-US" dirty="0"/>
          </a:p>
          <a:p>
            <a:r>
              <a:rPr lang="en-US" b="1" dirty="0"/>
              <a:t>Expected Result: </a:t>
            </a:r>
            <a:r>
              <a:rPr lang="en-US" dirty="0"/>
              <a:t>100</a:t>
            </a:r>
          </a:p>
          <a:p>
            <a:endParaRPr lang="en-US" dirty="0"/>
          </a:p>
          <a:p>
            <a:r>
              <a:rPr lang="en-US" b="1" dirty="0"/>
              <a:t>Actual Result: </a:t>
            </a:r>
            <a:r>
              <a:rPr lang="en-US" dirty="0"/>
              <a:t>PASS</a:t>
            </a:r>
          </a:p>
        </p:txBody>
      </p:sp>
      <p:pic>
        <p:nvPicPr>
          <p:cNvPr id="5" name="Picture 4">
            <a:extLst>
              <a:ext uri="{FF2B5EF4-FFF2-40B4-BE49-F238E27FC236}">
                <a16:creationId xmlns:a16="http://schemas.microsoft.com/office/drawing/2014/main" id="{2C88784A-A453-C090-A68A-0C67C75F4B85}"/>
              </a:ext>
            </a:extLst>
          </p:cNvPr>
          <p:cNvPicPr>
            <a:picLocks noChangeAspect="1"/>
          </p:cNvPicPr>
          <p:nvPr/>
        </p:nvPicPr>
        <p:blipFill>
          <a:blip r:embed="rId5"/>
          <a:stretch>
            <a:fillRect/>
          </a:stretch>
        </p:blipFill>
        <p:spPr>
          <a:xfrm>
            <a:off x="4974019" y="3321962"/>
            <a:ext cx="6366643" cy="2118564"/>
          </a:xfrm>
          <a:prstGeom prst="rect">
            <a:avLst/>
          </a:prstGeom>
        </p:spPr>
      </p:pic>
    </p:spTree>
    <p:custDataLst>
      <p:tags r:id="rId1"/>
    </p:custDataLst>
    <p:extLst>
      <p:ext uri="{BB962C8B-B14F-4D97-AF65-F5344CB8AC3E}">
        <p14:creationId xmlns:p14="http://schemas.microsoft.com/office/powerpoint/2010/main" val="12720491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AUTOMATION SUMMARY</a:t>
            </a:r>
            <a:endParaRPr dirty="0"/>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idx="1"/>
          </p:nvPr>
        </p:nvPicPr>
        <p:blipFill rotWithShape="1">
          <a:blip r:embed="rId4">
            <a:alphaModFix/>
          </a:blip>
          <a:stretch/>
        </p:blipFill>
        <p:spPr>
          <a:xfrm>
            <a:off x="1138861" y="2133600"/>
            <a:ext cx="8522041" cy="4305300"/>
          </a:xfrm>
          <a:prstGeom prst="rect">
            <a:avLst/>
          </a:prstGeom>
          <a:noFill/>
          <a:ln>
            <a:noFill/>
          </a:ln>
        </p:spPr>
      </p:pic>
      <p:pic>
        <p:nvPicPr>
          <p:cNvPr id="204" name="Google Shape;204;p9"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TOOLS</a:t>
            </a:r>
            <a:endParaRPr dirty="0"/>
          </a:p>
        </p:txBody>
      </p:sp>
      <p:sp>
        <p:nvSpPr>
          <p:cNvPr id="210" name="Google Shape;210;p10"/>
          <p:cNvSpPr txBox="1">
            <a:spLocks noGrp="1"/>
          </p:cNvSpPr>
          <p:nvPr>
            <p:ph idx="1"/>
          </p:nvPr>
        </p:nvSpPr>
        <p:spPr>
          <a:xfrm>
            <a:off x="358472" y="2494166"/>
            <a:ext cx="9942409" cy="3250324"/>
          </a:xfrm>
          <a:prstGeom prst="rect">
            <a:avLst/>
          </a:prstGeom>
          <a:noFill/>
          <a:ln>
            <a:noFill/>
          </a:ln>
        </p:spPr>
        <p:txBody>
          <a:bodyPr spcFirstLastPara="1" wrap="square" lIns="91425" tIns="45700" rIns="91425" bIns="45700" anchor="t" anchorCtr="0">
            <a:noAutofit/>
          </a:bodyPr>
          <a:lstStyle/>
          <a:p>
            <a:pPr lvl="0"/>
            <a:r>
              <a:rPr lang="en-US" sz="2200" b="1" dirty="0"/>
              <a:t>Assess, Plan, Design &amp; Build:</a:t>
            </a:r>
            <a:r>
              <a:rPr lang="en-US" sz="2200" dirty="0"/>
              <a:t> Find errors and vulnerabilities early. </a:t>
            </a:r>
          </a:p>
          <a:p>
            <a:pPr lvl="0"/>
            <a:r>
              <a:rPr lang="en-US" sz="2200" b="1" dirty="0"/>
              <a:t>Verify &amp; Test:</a:t>
            </a:r>
            <a:r>
              <a:rPr lang="en-US" sz="2200" dirty="0"/>
              <a:t> Use automated security testing before deployment. </a:t>
            </a:r>
          </a:p>
          <a:p>
            <a:pPr lvl="0"/>
            <a:r>
              <a:rPr lang="en-US" sz="2200" b="1" dirty="0"/>
              <a:t>External Tools:</a:t>
            </a:r>
            <a:r>
              <a:rPr lang="en-US" sz="2200" dirty="0"/>
              <a:t> Coverity, </a:t>
            </a:r>
            <a:r>
              <a:rPr lang="en-US" sz="2200" dirty="0" err="1"/>
              <a:t>CodeSonar</a:t>
            </a:r>
            <a:r>
              <a:rPr lang="en-US" sz="2200" dirty="0"/>
              <a:t>, </a:t>
            </a:r>
            <a:r>
              <a:rPr lang="en-US" sz="2200" dirty="0" err="1"/>
              <a:t>Polyspace</a:t>
            </a:r>
            <a:r>
              <a:rPr lang="en-US" sz="2200" dirty="0"/>
              <a:t>, </a:t>
            </a:r>
            <a:r>
              <a:rPr lang="en-US" sz="2200" dirty="0" err="1"/>
              <a:t>Parasoft</a:t>
            </a:r>
            <a:r>
              <a:rPr lang="en-US" sz="2200" dirty="0"/>
              <a:t>, </a:t>
            </a:r>
            <a:r>
              <a:rPr lang="en-US" sz="2200" dirty="0" err="1"/>
              <a:t>Cppcheck</a:t>
            </a:r>
            <a:r>
              <a:rPr lang="en-US" sz="2200" dirty="0"/>
              <a:t>, Astrée, PVS-Studio, SonarQube. </a:t>
            </a:r>
          </a:p>
          <a:p>
            <a:pPr lvl="0"/>
            <a:r>
              <a:rPr lang="en-US" sz="2200" b="1" dirty="0"/>
              <a:t>Transition &amp; Production:</a:t>
            </a:r>
            <a:r>
              <a:rPr lang="en-US" sz="2200" dirty="0"/>
              <a:t> Verify integrity, monitor systems, log activity and respond to threats.</a:t>
            </a:r>
          </a:p>
        </p:txBody>
      </p:sp>
      <p:pic>
        <p:nvPicPr>
          <p:cNvPr id="211" name="Google Shape;211;p1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RISKS AND BENEFITS</a:t>
            </a:r>
            <a:endParaRPr/>
          </a:p>
        </p:txBody>
      </p:sp>
      <p:sp>
        <p:nvSpPr>
          <p:cNvPr id="217" name="Google Shape;217;p11"/>
          <p:cNvSpPr txBox="1">
            <a:spLocks noGrp="1"/>
          </p:cNvSpPr>
          <p:nvPr>
            <p:ph idx="1"/>
          </p:nvPr>
        </p:nvSpPr>
        <p:spPr>
          <a:xfrm>
            <a:off x="420791" y="2275490"/>
            <a:ext cx="9942409" cy="4511566"/>
          </a:xfrm>
          <a:prstGeom prst="rect">
            <a:avLst/>
          </a:prstGeom>
          <a:noFill/>
          <a:ln>
            <a:noFill/>
          </a:ln>
        </p:spPr>
        <p:txBody>
          <a:bodyPr spcFirstLastPara="1" wrap="square" lIns="91425" tIns="45700" rIns="91425" bIns="45700" anchor="t" anchorCtr="0">
            <a:noAutofit/>
          </a:bodyPr>
          <a:lstStyle/>
          <a:p>
            <a:pPr lvl="0"/>
            <a:r>
              <a:rPr lang="en-US" sz="2200" b="1" dirty="0"/>
              <a:t>Act First:</a:t>
            </a:r>
            <a:r>
              <a:rPr lang="en-US" sz="2200" dirty="0"/>
              <a:t> Prioritize L1 risks, especially memory protection and data validation. </a:t>
            </a:r>
          </a:p>
          <a:p>
            <a:pPr lvl="0"/>
            <a:r>
              <a:rPr lang="en-US" sz="2200" b="1" dirty="0"/>
              <a:t>Benefit of Acting Now:</a:t>
            </a:r>
            <a:r>
              <a:rPr lang="en-US" sz="2200" dirty="0"/>
              <a:t> Catch serious vulnerabilities before deployment. </a:t>
            </a:r>
          </a:p>
          <a:p>
            <a:pPr lvl="0"/>
            <a:r>
              <a:rPr lang="en-US" sz="2200" b="1" dirty="0"/>
              <a:t>Risk of Waiting:</a:t>
            </a:r>
            <a:r>
              <a:rPr lang="en-US" sz="2200" dirty="0"/>
              <a:t> High-severity issues may reach production and become harder to remediate. </a:t>
            </a:r>
          </a:p>
          <a:p>
            <a:pPr lvl="0"/>
            <a:r>
              <a:rPr lang="en-US" sz="2200" b="1" dirty="0"/>
              <a:t>Strategy Gap:</a:t>
            </a:r>
            <a:r>
              <a:rPr lang="en-US" sz="2200" dirty="0"/>
              <a:t> Automation must be supported by testing, monitoring, reviews and policy updates. </a:t>
            </a:r>
          </a:p>
          <a:p>
            <a:pPr lvl="0"/>
            <a:r>
              <a:rPr lang="en-US" sz="2200" b="1" dirty="0"/>
              <a:t>Next Steps:</a:t>
            </a:r>
            <a:r>
              <a:rPr lang="en-US" sz="2200" dirty="0"/>
              <a:t> Address L1 risks, enforce compliance, monitor continuously and review the policy regularly.</a:t>
            </a:r>
          </a:p>
        </p:txBody>
      </p:sp>
      <p:pic>
        <p:nvPicPr>
          <p:cNvPr id="218" name="Google Shape;218;p11"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RECOMMENDATIONS</a:t>
            </a:r>
            <a:endParaRPr dirty="0"/>
          </a:p>
        </p:txBody>
      </p:sp>
      <p:sp>
        <p:nvSpPr>
          <p:cNvPr id="224" name="Google Shape;224;p12"/>
          <p:cNvSpPr txBox="1">
            <a:spLocks noGrp="1"/>
          </p:cNvSpPr>
          <p:nvPr>
            <p:ph idx="1"/>
          </p:nvPr>
        </p:nvSpPr>
        <p:spPr>
          <a:xfrm>
            <a:off x="420790" y="2543268"/>
            <a:ext cx="9942409" cy="4046483"/>
          </a:xfrm>
          <a:prstGeom prst="rect">
            <a:avLst/>
          </a:prstGeom>
          <a:noFill/>
          <a:ln>
            <a:noFill/>
          </a:ln>
        </p:spPr>
        <p:txBody>
          <a:bodyPr spcFirstLastPara="1" wrap="square" lIns="91425" tIns="45700" rIns="91425" bIns="45700" anchor="t" anchorCtr="0">
            <a:normAutofit/>
          </a:bodyPr>
          <a:lstStyle/>
          <a:p>
            <a:pPr lvl="0"/>
            <a:r>
              <a:rPr lang="en-US" sz="2200" b="1" dirty="0"/>
              <a:t>Remediation Timelines:</a:t>
            </a:r>
            <a:r>
              <a:rPr lang="en-US" sz="2200" dirty="0"/>
              <a:t> Define deadlines for L1, L2 and L3 vulnerabilities. </a:t>
            </a:r>
          </a:p>
          <a:p>
            <a:pPr lvl="0"/>
            <a:r>
              <a:rPr lang="en-US" sz="2200" b="1" dirty="0"/>
              <a:t>Dependency Security:</a:t>
            </a:r>
            <a:r>
              <a:rPr lang="en-US" sz="2200" dirty="0"/>
              <a:t> Formalize third-party dependency review and update requirements. </a:t>
            </a:r>
          </a:p>
          <a:p>
            <a:pPr lvl="0"/>
            <a:r>
              <a:rPr lang="en-US" sz="2200" b="1" dirty="0"/>
              <a:t>Secrets Management:</a:t>
            </a:r>
            <a:r>
              <a:rPr lang="en-US" sz="2200" dirty="0"/>
              <a:t> Define storage, rotation and revocation requirements for keys and credentials. </a:t>
            </a:r>
          </a:p>
          <a:p>
            <a:pPr lvl="0"/>
            <a:r>
              <a:rPr lang="en-US" sz="2200" b="1" dirty="0"/>
              <a:t>Incident Response:</a:t>
            </a:r>
            <a:r>
              <a:rPr lang="en-US" sz="2200" dirty="0"/>
              <a:t> Add specific ownership, escalation and recovery procedures. </a:t>
            </a:r>
          </a:p>
          <a:p>
            <a:pPr lvl="0"/>
            <a:r>
              <a:rPr lang="en-US" sz="2200" b="1" dirty="0"/>
              <a:t>Secure Coding Training:</a:t>
            </a:r>
            <a:r>
              <a:rPr lang="en-US" sz="2200" dirty="0"/>
              <a:t> Require recurring developer security training.</a:t>
            </a:r>
          </a:p>
        </p:txBody>
      </p:sp>
      <p:pic>
        <p:nvPicPr>
          <p:cNvPr id="225" name="Google Shape;225;p12"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CONCLUSIONS</a:t>
            </a:r>
            <a:endParaRPr/>
          </a:p>
        </p:txBody>
      </p:sp>
      <p:sp>
        <p:nvSpPr>
          <p:cNvPr id="231" name="Google Shape;231;p13"/>
          <p:cNvSpPr txBox="1">
            <a:spLocks noGrp="1"/>
          </p:cNvSpPr>
          <p:nvPr>
            <p:ph idx="1"/>
          </p:nvPr>
        </p:nvSpPr>
        <p:spPr>
          <a:xfrm>
            <a:off x="420790" y="2167759"/>
            <a:ext cx="9942409" cy="4421991"/>
          </a:xfrm>
          <a:prstGeom prst="rect">
            <a:avLst/>
          </a:prstGeom>
          <a:noFill/>
          <a:ln>
            <a:noFill/>
          </a:ln>
        </p:spPr>
        <p:txBody>
          <a:bodyPr spcFirstLastPara="1" wrap="square" lIns="91425" tIns="45700" rIns="91425" bIns="45700" anchor="t" anchorCtr="0">
            <a:normAutofit/>
          </a:bodyPr>
          <a:lstStyle/>
          <a:p>
            <a:pPr marL="342900" lvl="0" indent="-342900">
              <a:buFont typeface="Arial" panose="020B0604020202020204" pitchFamily="34" charset="0"/>
              <a:buChar char="•"/>
            </a:pPr>
            <a:r>
              <a:rPr lang="en-US" sz="2200" dirty="0"/>
              <a:t>Adopt all ten Green Pace C/C++ coding standards.</a:t>
            </a:r>
          </a:p>
          <a:p>
            <a:pPr lvl="0"/>
            <a:endParaRPr lang="en-US" sz="2200" dirty="0"/>
          </a:p>
          <a:p>
            <a:pPr marL="342900" lvl="0" indent="-342900">
              <a:buFont typeface="Arial" panose="020B0604020202020204" pitchFamily="34" charset="0"/>
              <a:buChar char="•"/>
            </a:pPr>
            <a:r>
              <a:rPr lang="en-US" sz="2200" dirty="0"/>
              <a:t>Prioritize STD-001, STD-002 and STD-005 as L1 risks. </a:t>
            </a:r>
          </a:p>
          <a:p>
            <a:pPr marL="342900" lvl="0" indent="-342900">
              <a:buFont typeface="Arial" panose="020B0604020202020204" pitchFamily="34" charset="0"/>
              <a:buChar char="•"/>
            </a:pPr>
            <a:endParaRPr lang="en-US" sz="2200" dirty="0"/>
          </a:p>
          <a:p>
            <a:pPr marL="342900" lvl="0" indent="-342900">
              <a:buFont typeface="Arial" panose="020B0604020202020204" pitchFamily="34" charset="0"/>
              <a:buChar char="•"/>
            </a:pPr>
            <a:r>
              <a:rPr lang="en-US" sz="2200" dirty="0"/>
              <a:t>Use SEI CERT C/C++ guidance as the secure-coding baseline. </a:t>
            </a:r>
          </a:p>
          <a:p>
            <a:pPr marL="342900" lvl="0" indent="-342900">
              <a:buFont typeface="Arial" panose="020B0604020202020204" pitchFamily="34" charset="0"/>
              <a:buChar char="•"/>
            </a:pPr>
            <a:endParaRPr lang="en-US" sz="2200" dirty="0"/>
          </a:p>
          <a:p>
            <a:pPr marL="342900" lvl="0" indent="-342900">
              <a:buFont typeface="Arial" panose="020B0604020202020204" pitchFamily="34" charset="0"/>
              <a:buChar char="•"/>
            </a:pPr>
            <a:r>
              <a:rPr lang="en-US" sz="2200" dirty="0"/>
              <a:t>Enforce standards through testing, automation and continuous review.</a:t>
            </a:r>
          </a:p>
          <a:p>
            <a:pPr marL="228600" lvl="0" indent="-88900" algn="l" rtl="0">
              <a:lnSpc>
                <a:spcPct val="90000"/>
              </a:lnSpc>
              <a:spcBef>
                <a:spcPts val="1000"/>
              </a:spcBef>
              <a:spcAft>
                <a:spcPts val="0"/>
              </a:spcAft>
              <a:buClr>
                <a:schemeClr val="lt1"/>
              </a:buClr>
              <a:buSzPts val="2200"/>
              <a:buNone/>
            </a:pPr>
            <a:endParaRPr dirty="0"/>
          </a:p>
        </p:txBody>
      </p:sp>
      <p:pic>
        <p:nvPicPr>
          <p:cNvPr id="232" name="Google Shape;232;p13"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REFERENCES</a:t>
            </a:r>
            <a:endParaRPr dirty="0"/>
          </a:p>
        </p:txBody>
      </p:sp>
      <p:sp>
        <p:nvSpPr>
          <p:cNvPr id="238" name="Google Shape;238;p14"/>
          <p:cNvSpPr txBox="1">
            <a:spLocks noGrp="1"/>
          </p:cNvSpPr>
          <p:nvPr>
            <p:ph idx="1"/>
          </p:nvPr>
        </p:nvSpPr>
        <p:spPr>
          <a:xfrm>
            <a:off x="420791" y="2362200"/>
            <a:ext cx="9942409" cy="2050409"/>
          </a:xfrm>
          <a:prstGeom prst="rect">
            <a:avLst/>
          </a:prstGeom>
          <a:noFill/>
          <a:ln>
            <a:noFill/>
          </a:ln>
        </p:spPr>
        <p:txBody>
          <a:bodyPr spcFirstLastPara="1" wrap="square" lIns="91425" tIns="45700" rIns="91425" bIns="45700" anchor="t" anchorCtr="0">
            <a:normAutofit/>
          </a:bodyPr>
          <a:lstStyle/>
          <a:p>
            <a:r>
              <a:rPr lang="en-US" dirty="0"/>
              <a:t>Software Engineering Institute. (n.d.). </a:t>
            </a:r>
            <a:r>
              <a:rPr lang="en-US" i="1" dirty="0"/>
              <a:t>SEI CERT C coding standard</a:t>
            </a:r>
            <a:r>
              <a:rPr lang="en-US" dirty="0"/>
              <a:t>. Carnegie Mellon University.</a:t>
            </a:r>
            <a:br>
              <a:rPr lang="en-US" dirty="0"/>
            </a:br>
            <a:r>
              <a:rPr lang="en-US" dirty="0">
                <a:hlinkClick r:id="rId4"/>
              </a:rPr>
              <a:t>https://cmu-sei.github.io/secure-coding-standards/sei-cert-c-coding-standard/</a:t>
            </a:r>
            <a:r>
              <a:rPr lang="en-US" dirty="0"/>
              <a:t> </a:t>
            </a:r>
          </a:p>
          <a:p>
            <a:r>
              <a:rPr lang="en-US" dirty="0" err="1"/>
              <a:t>GoogleTest</a:t>
            </a:r>
            <a:r>
              <a:rPr lang="en-US" dirty="0"/>
              <a:t>. (n.d.). </a:t>
            </a:r>
            <a:r>
              <a:rPr lang="en-US" i="1" dirty="0" err="1"/>
              <a:t>GoogleTest</a:t>
            </a:r>
            <a:r>
              <a:rPr lang="en-US" i="1" dirty="0"/>
              <a:t> primer</a:t>
            </a:r>
            <a:r>
              <a:rPr lang="en-US" dirty="0"/>
              <a:t>.</a:t>
            </a:r>
            <a:br>
              <a:rPr lang="en-US" dirty="0"/>
            </a:br>
            <a:r>
              <a:rPr lang="en-US" dirty="0">
                <a:hlinkClick r:id="rId5"/>
              </a:rPr>
              <a:t>https://google.github.io/googletest/primer.html</a:t>
            </a:r>
            <a:r>
              <a:rPr lang="en-US" dirty="0"/>
              <a:t> </a:t>
            </a:r>
          </a:p>
          <a:p>
            <a:r>
              <a:rPr lang="en-US" dirty="0"/>
              <a:t>Southern New Hampshire University. (n.d.). </a:t>
            </a:r>
            <a:r>
              <a:rPr lang="en-US" i="1" dirty="0"/>
              <a:t>CS 405 Google Test Guide</a:t>
            </a:r>
            <a:r>
              <a:rPr lang="en-US" dirty="0"/>
              <a:t> [PDF].</a:t>
            </a:r>
          </a:p>
        </p:txBody>
      </p:sp>
      <p:pic>
        <p:nvPicPr>
          <p:cNvPr id="239" name="Google Shape;239;p14"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Film Burn">
  <a:themeElements>
    <a:clrScheme name="Custom 2">
      <a:dk1>
        <a:srgbClr val="09090C"/>
      </a:dk1>
      <a:lt1>
        <a:sysClr val="window" lastClr="FFFFFF"/>
      </a:lt1>
      <a:dk2>
        <a:srgbClr val="000000"/>
      </a:dk2>
      <a:lt2>
        <a:srgbClr val="F9EFEC"/>
      </a:lt2>
      <a:accent1>
        <a:srgbClr val="CB49B2"/>
      </a:accent1>
      <a:accent2>
        <a:srgbClr val="7C3191"/>
      </a:accent2>
      <a:accent3>
        <a:srgbClr val="E95D48"/>
      </a:accent3>
      <a:accent4>
        <a:srgbClr val="F08E6B"/>
      </a:accent4>
      <a:accent5>
        <a:srgbClr val="D93752"/>
      </a:accent5>
      <a:accent6>
        <a:srgbClr val="EE7345"/>
      </a:accent6>
      <a:hlink>
        <a:srgbClr val="CB49B2"/>
      </a:hlink>
      <a:folHlink>
        <a:srgbClr val="E95D48"/>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lm burn" id="{4524321E-1019-4E52-AA1C-5D37B75CD749}" vid="{4A46179B-AA1B-40E1-9320-430DA2EBD8EF}"/>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398236C-7FA9-40C9-B456-AA158A506A32}">
  <ds:schemaRefs>
    <ds:schemaRef ds:uri="http://schemas.microsoft.com/sharepoint/v3/contenttype/forms"/>
  </ds:schemaRefs>
</ds:datastoreItem>
</file>

<file path=customXml/itemProps2.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docProps/app.xml><?xml version="1.0" encoding="utf-8"?>
<Properties xmlns="http://schemas.openxmlformats.org/officeDocument/2006/extended-properties" xmlns:vt="http://schemas.openxmlformats.org/officeDocument/2006/docPropsVTypes">
  <Template>Film Burn</Template>
  <TotalTime>208</TotalTime>
  <Words>1144</Words>
  <Application>Microsoft Office PowerPoint</Application>
  <PresentationFormat>Widescreen</PresentationFormat>
  <Paragraphs>210</Paragraphs>
  <Slides>19</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Century Gothic</vt:lpstr>
      <vt:lpstr>Neue Haas Grotesk Text Pro</vt:lpstr>
      <vt:lpstr>Film Burn</vt:lpstr>
      <vt:lpstr>Green Pace</vt:lpstr>
      <vt:lpstr>OVERVIEW: DEFENSE IN DEPTH</vt:lpstr>
      <vt:lpstr>THREATS MATRIX</vt:lpstr>
      <vt:lpstr>10 PRINCIPLES</vt:lpstr>
      <vt:lpstr>CODING STANDARDS</vt:lpstr>
      <vt:lpstr>Vulnerability Ranking</vt:lpstr>
      <vt:lpstr>ENCRYPTION POLICIES</vt:lpstr>
      <vt:lpstr>TRIPLE-A POLICIES</vt:lpstr>
      <vt:lpstr>Unit Testing</vt:lpstr>
      <vt:lpstr>Unit Testing: Does the program correctly handle a valid positive divisor?</vt:lpstr>
      <vt:lpstr>Unit Testing: Does the program correctly handle a valid negative divisor?</vt:lpstr>
      <vt:lpstr>Unit Testing: Does the program reject a divisor of zero?</vt:lpstr>
      <vt:lpstr>Unit Testing: Does the program correctly handle a divisor of one?</vt:lpstr>
      <vt:lpstr>AUTOMATION SUMMARY</vt:lpstr>
      <vt:lpstr>TOOLS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Hubbell, Tyler</cp:lastModifiedBy>
  <cp:revision>22</cp:revision>
  <dcterms:created xsi:type="dcterms:W3CDTF">2020-08-19T17:59:24Z</dcterms:created>
  <dcterms:modified xsi:type="dcterms:W3CDTF">2026-08-13T16:05:15Z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